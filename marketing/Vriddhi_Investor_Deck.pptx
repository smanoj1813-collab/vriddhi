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EEAD4"/>
                </a:solidFill>
                <a:latin typeface="Inter"/>
              </a:rPr>
              <a:t>INVESTOR DECK · 2026</a:t>
            </a:r>
          </a:p>
        </p:txBody>
      </p:sp>
      <p:pic>
        <p:nvPicPr>
          <p:cNvPr id="4" name="Picture 3" descr="vriddhi-logo-horizontal-reverse@16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25880"/>
            <a:ext cx="5120640" cy="16930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1792" y="3200400"/>
            <a:ext cx="566928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419856"/>
            <a:ext cx="6766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5EEAD4"/>
                </a:solidFill>
                <a:latin typeface="Inter"/>
              </a:rPr>
              <a:t>The AI-native academic operating system for Indian colleges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343400"/>
            <a:ext cx="6400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50" b="0" i="0">
                <a:solidFill>
                  <a:srgbClr val="CBD5E1"/>
                </a:solidFill>
                <a:latin typeface="Inter"/>
              </a:rPr>
              <a:t>AI question papers · secure online exams · auto-grading · fees · attendance · results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94A3B8"/>
                </a:solidFill>
                <a:latin typeface="Inter"/>
              </a:rPr>
              <a:t>Six Indian languages · UUCMS-ready · ₹449 per student per year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051560"/>
            <a:ext cx="3840480" cy="4754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vriddhi-mark-hero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1828800"/>
            <a:ext cx="3566160" cy="2748998"/>
          </a:xfrm>
          <a:prstGeom prst="rect">
            <a:avLst/>
          </a:prstGeom>
        </p:spPr>
      </p:pic>
      <p:pic>
        <p:nvPicPr>
          <p:cNvPr id="10" name="Picture 9" descr="vriddhi-logo-horizontal-transparent@16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4892040"/>
            <a:ext cx="2468880" cy="8162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617220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94A3B8"/>
                </a:solidFill>
                <a:latin typeface="Inter"/>
              </a:rPr>
              <a:t>Growth through knowledge  ·  Built in Karnataka  ·  &lt;your name&gt; · &lt;email&gt; · &lt;phone&gt;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457200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Inter"/>
              </a:rP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57839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Inter"/>
              </a:rPr>
              <a:t>48,000 colleges are buying software this decade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89888"/>
            <a:ext cx="106006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4748B"/>
                </a:solidFill>
                <a:latin typeface="Inter"/>
              </a:rPr>
              <a:t>And they are already paying for far less than what we ship.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47088"/>
            <a:ext cx="2613583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847088"/>
            <a:ext cx="50292" cy="129844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93392"/>
            <a:ext cx="21563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F766E"/>
                </a:solidFill>
                <a:latin typeface="Inter"/>
              </a:rPr>
              <a:t>48,246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487168"/>
            <a:ext cx="2156383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475569"/>
                </a:solidFill>
                <a:latin typeface="Inter"/>
              </a:rPr>
              <a:t>colleges + 1,289 universities in India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1679" y="1847088"/>
            <a:ext cx="2613583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1679" y="1847088"/>
            <a:ext cx="50292" cy="129844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9423" y="1993392"/>
            <a:ext cx="21563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F766E"/>
                </a:solidFill>
                <a:latin typeface="Inter"/>
              </a:rPr>
              <a:t>4.50 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9423" y="2487168"/>
            <a:ext cx="2156383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475569"/>
                </a:solidFill>
                <a:latin typeface="Inter"/>
              </a:rPr>
              <a:t>students enrolled; GER 30 % and rising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6431" y="1847088"/>
            <a:ext cx="2613583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6431" y="1847088"/>
            <a:ext cx="50292" cy="129844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4175" y="1993392"/>
            <a:ext cx="21563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F766E"/>
                </a:solidFill>
                <a:latin typeface="Inter"/>
              </a:rPr>
              <a:t>₹300–1,200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4175" y="2487168"/>
            <a:ext cx="2156383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475569"/>
                </a:solidFill>
                <a:latin typeface="Inter"/>
              </a:rPr>
              <a:t>already spent per student, per year, on ERP licences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11183" y="1847088"/>
            <a:ext cx="2613583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11183" y="1847088"/>
            <a:ext cx="50292" cy="129844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48927" y="1993392"/>
            <a:ext cx="21563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F766E"/>
                </a:solidFill>
                <a:latin typeface="Inter"/>
              </a:rPr>
              <a:t>$4.48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8927" y="2487168"/>
            <a:ext cx="2156383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475569"/>
                </a:solidFill>
                <a:latin typeface="Inter"/>
              </a:rPr>
              <a:t>India online education in 2026 → $23.9 B by 2034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401568"/>
            <a:ext cx="10874959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900" b="0" i="0">
                <a:solidFill>
                  <a:srgbClr val="14B8A6"/>
                </a:solidFill>
                <a:latin typeface="Inter"/>
              </a:rPr>
              <a:t>●  </a:t>
            </a:r>
            <a:r>
              <a:rPr sz="1200" b="0" i="0">
                <a:solidFill>
                  <a:srgbClr val="475569"/>
                </a:solidFill>
                <a:latin typeface="Inter"/>
              </a:rPr>
              <a:t>NEP 2020 and NAAC turned digital evidence into a procurement requirement, not a preference.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900" b="0" i="0">
                <a:solidFill>
                  <a:srgbClr val="14B8A6"/>
                </a:solidFill>
                <a:latin typeface="Inter"/>
              </a:rPr>
              <a:t>●  </a:t>
            </a:r>
            <a:r>
              <a:rPr sz="1200" b="0" i="0">
                <a:solidFill>
                  <a:srgbClr val="475569"/>
                </a:solidFill>
                <a:latin typeface="Inter"/>
              </a:rPr>
              <a:t>State portals (Karnataka's UUCMS) are mandatory for every student — and no mainstream ERP is built around them.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900" b="0" i="0">
                <a:solidFill>
                  <a:srgbClr val="14B8A6"/>
                </a:solidFill>
                <a:latin typeface="Inter"/>
              </a:rPr>
              <a:t>●  </a:t>
            </a:r>
            <a:r>
              <a:rPr sz="1200" b="0" i="0">
                <a:solidFill>
                  <a:srgbClr val="475569"/>
                </a:solidFill>
                <a:latin typeface="Inter"/>
              </a:rPr>
              <a:t>Incumbent ERPs are 10–20 years old: no AI, English-only, 3–9 month deployments, per-student licences.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457200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Inter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57839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Inter"/>
              </a:rPr>
              <a:t>A college runs on 9 disconnected tools — and one weekend-eating ritual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47088"/>
            <a:ext cx="5400903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084832"/>
            <a:ext cx="310896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31136"/>
            <a:ext cx="4888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Inter"/>
              </a:rPr>
              <a:t>Fragmented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70048"/>
            <a:ext cx="4888839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75569"/>
                </a:solidFill>
                <a:latin typeface="Inter"/>
              </a:rPr>
              <a:t>Attendance, fees, timetables and results live in separate spreadsheets. Every semester ends with manual re-entry and no single source of truth.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3863" y="1847088"/>
            <a:ext cx="5400903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79895" y="2084832"/>
            <a:ext cx="310896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9895" y="2231136"/>
            <a:ext cx="4888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Inter"/>
              </a:rPr>
              <a:t>The exam-paper bottleneck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9895" y="2670048"/>
            <a:ext cx="4888839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75569"/>
                </a:solidFill>
                <a:latin typeface="Inter"/>
              </a:rPr>
              <a:t>Faculty hand-build a paper for every subject, every semester — then spend weekends marking scripts. Paper-making, not teaching, consumes the cycle.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114800"/>
            <a:ext cx="5400903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4352544"/>
            <a:ext cx="310896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498848"/>
            <a:ext cx="4888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Inter"/>
              </a:rPr>
              <a:t>Compliance by archaeology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37760"/>
            <a:ext cx="4888839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75569"/>
                </a:solidFill>
                <a:latin typeface="Inter"/>
              </a:rPr>
              <a:t>NAAC, the university and the state portal each demand evidence. Colleges reconstruct it from registers weeks after the fact.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863" y="4114800"/>
            <a:ext cx="5400903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79895" y="4352544"/>
            <a:ext cx="310896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9895" y="4498848"/>
            <a:ext cx="4888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Inter"/>
              </a:rPr>
              <a:t>Students get nothing 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4937760"/>
            <a:ext cx="4888839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75569"/>
                </a:solidFill>
                <a:latin typeface="Inter"/>
              </a:rPr>
              <a:t>No app, no placements, no visibility. The institution's own data never reaches the learner who generated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457200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Inter"/>
              </a:rPr>
              <a:t>THE WEDGE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57839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Inter"/>
              </a:rPr>
              <a:t>We get in through the exam paper, then own the semester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47088"/>
            <a:ext cx="6720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766E"/>
                </a:solidFill>
                <a:latin typeface="Inter"/>
              </a:rPr>
              <a:t>Why this door opens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40280"/>
            <a:ext cx="672084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900"/>
              </a:spcAft>
            </a:pPr>
            <a:r>
              <a:rPr sz="900" b="0" i="0">
                <a:solidFill>
                  <a:srgbClr val="14B8A6"/>
                </a:solidFill>
                <a:latin typeface="Inter"/>
              </a:rPr>
              <a:t>●  </a:t>
            </a:r>
            <a:r>
              <a:rPr sz="1150" b="0" i="0">
                <a:solidFill>
                  <a:srgbClr val="475569"/>
                </a:solidFill>
                <a:latin typeface="Inter"/>
              </a:rPr>
              <a:t>It is the most painful, most visible, most repeated task in the college — and nobody sells a complete answer to it.</a:t>
            </a:r>
          </a:p>
          <a:p>
            <a:pPr algn="l">
              <a:lnSpc>
                <a:spcPct val="114000"/>
              </a:lnSpc>
              <a:spcAft>
                <a:spcPts val="900"/>
              </a:spcAft>
            </a:pPr>
            <a:r>
              <a:rPr sz="900" b="0" i="0">
                <a:solidFill>
                  <a:srgbClr val="14B8A6"/>
                </a:solidFill>
                <a:latin typeface="Inter"/>
              </a:rPr>
              <a:t>●  </a:t>
            </a:r>
            <a:r>
              <a:rPr sz="1150" b="0" i="0">
                <a:solidFill>
                  <a:srgbClr val="475569"/>
                </a:solidFill>
                <a:latin typeface="Inter"/>
              </a:rPr>
              <a:t>It produces an artefact the principal can hold: a print-ready paper in the university's format, with an approval trail.</a:t>
            </a:r>
          </a:p>
          <a:p>
            <a:pPr algn="l">
              <a:lnSpc>
                <a:spcPct val="114000"/>
              </a:lnSpc>
              <a:spcAft>
                <a:spcPts val="900"/>
              </a:spcAft>
            </a:pPr>
            <a:r>
              <a:rPr sz="900" b="0" i="0">
                <a:solidFill>
                  <a:srgbClr val="14B8A6"/>
                </a:solidFill>
                <a:latin typeface="Inter"/>
              </a:rPr>
              <a:t>●  </a:t>
            </a:r>
            <a:r>
              <a:rPr sz="1150" b="0" i="0">
                <a:solidFill>
                  <a:srgbClr val="475569"/>
                </a:solidFill>
                <a:latin typeface="Inter"/>
              </a:rPr>
              <a:t>The question bank built here becomes the cold-start for attendance analytics, objective exams and grading.</a:t>
            </a:r>
          </a:p>
          <a:p>
            <a:pPr algn="l">
              <a:lnSpc>
                <a:spcPct val="114000"/>
              </a:lnSpc>
              <a:spcAft>
                <a:spcPts val="900"/>
              </a:spcAft>
            </a:pPr>
            <a:r>
              <a:rPr sz="900" b="0" i="0">
                <a:solidFill>
                  <a:srgbClr val="14B8A6"/>
                </a:solidFill>
                <a:latin typeface="Inter"/>
              </a:rPr>
              <a:t>●  </a:t>
            </a:r>
            <a:r>
              <a:rPr sz="1150" b="0" i="0">
                <a:solidFill>
                  <a:srgbClr val="475569"/>
                </a:solidFill>
                <a:latin typeface="Inter"/>
              </a:rPr>
              <a:t>Faculty adopt it because the AI drafts and they decide — nothing is published without a human approval.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07808" y="1847088"/>
            <a:ext cx="40169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82128" y="2084831"/>
            <a:ext cx="34683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766E"/>
                </a:solidFill>
                <a:latin typeface="Inter"/>
              </a:rPr>
              <a:t>Land → expand → monetise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2128" y="2487168"/>
            <a:ext cx="3468319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50" b="1" i="0">
                <a:solidFill>
                  <a:srgbClr val="0F172A"/>
                </a:solidFill>
                <a:latin typeface="Inter"/>
              </a:rPr>
              <a:t>Land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100" b="0" i="0">
                <a:solidFill>
                  <a:srgbClr val="475569"/>
                </a:solidFill>
                <a:latin typeface="Inter"/>
              </a:rPr>
              <a:t>Exam cycle: question bank, AI papers, online tests, auto-grading.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50" b="1" i="0">
                <a:solidFill>
                  <a:srgbClr val="0F172A"/>
                </a:solidFill>
                <a:latin typeface="Inter"/>
              </a:rPr>
              <a:t>Expand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100" b="0" i="0">
                <a:solidFill>
                  <a:srgbClr val="475569"/>
                </a:solidFill>
                <a:latin typeface="Inter"/>
              </a:rPr>
              <a:t>Attendance, timetable, curriculum, fees, library, payroll, analytics.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50" b="1" i="0">
                <a:solidFill>
                  <a:srgbClr val="0F172A"/>
                </a:solidFill>
                <a:latin typeface="Inter"/>
              </a:rPr>
              <a:t>Monetise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100" b="0" i="0">
                <a:solidFill>
                  <a:srgbClr val="475569"/>
                </a:solidFill>
                <a:latin typeface="Inter"/>
              </a:rPr>
              <a:t>Certificate programmes and placement prep sold to the same installed base.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457200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Inter"/>
              </a:rPr>
              <a:t>WHAT IS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57839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Inter"/>
              </a:rPr>
              <a:t>Seven role portals. One product. Shipped.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89888"/>
            <a:ext cx="106006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4748B"/>
                </a:solidFill>
                <a:latin typeface="Inter"/>
              </a:rPr>
              <a:t>Not a prototype, not a mock-up — verified in the repository at commit 091c6d5.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47088"/>
            <a:ext cx="2613583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847088"/>
            <a:ext cx="50292" cy="129844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93392"/>
            <a:ext cx="21563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F766E"/>
                </a:solidFill>
                <a:latin typeface="Inter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487168"/>
            <a:ext cx="2156383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475569"/>
                </a:solidFill>
                <a:latin typeface="Inter"/>
              </a:rPr>
              <a:t>role portals: student, faculty, HOD, admin, office, superadmin, employee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1679" y="1847088"/>
            <a:ext cx="2613583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1679" y="1847088"/>
            <a:ext cx="50292" cy="129844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9423" y="1993392"/>
            <a:ext cx="21563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F766E"/>
                </a:solidFill>
                <a:latin typeface="Inter"/>
              </a:rPr>
              <a:t>160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9423" y="2487168"/>
            <a:ext cx="2156383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475569"/>
                </a:solidFill>
                <a:latin typeface="Inter"/>
              </a:rPr>
              <a:t>backend functions (144 callable · 6 HTTP · 10 scheduled)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6431" y="1847088"/>
            <a:ext cx="2613583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6431" y="1847088"/>
            <a:ext cx="50292" cy="129844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4175" y="1993392"/>
            <a:ext cx="21563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F766E"/>
                </a:solidFill>
                <a:latin typeface="Inter"/>
              </a:rPr>
              <a:t>257K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4175" y="2487168"/>
            <a:ext cx="2156383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475569"/>
                </a:solidFill>
                <a:latin typeface="Inter"/>
              </a:rPr>
              <a:t>lines of TypeScript · 1,827 lines of security rules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11183" y="1847088"/>
            <a:ext cx="2613583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11183" y="1847088"/>
            <a:ext cx="50292" cy="129844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48927" y="1993392"/>
            <a:ext cx="21563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F766E"/>
                </a:solidFill>
                <a:latin typeface="Inter"/>
              </a:rPr>
              <a:t>1,540+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8927" y="2487168"/>
            <a:ext cx="2156383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475569"/>
                </a:solidFill>
                <a:latin typeface="Inter"/>
              </a:rPr>
              <a:t>automated tests green · 382 render-mount checks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401568"/>
            <a:ext cx="10874959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900" b="0" i="0">
                <a:solidFill>
                  <a:srgbClr val="14B8A6"/>
                </a:solidFill>
                <a:latin typeface="Inter"/>
              </a:rPr>
              <a:t>●  </a:t>
            </a:r>
            <a:r>
              <a:rPr sz="1200" b="0" i="0">
                <a:solidFill>
                  <a:srgbClr val="475569"/>
                </a:solidFill>
                <a:latin typeface="Inter"/>
              </a:rPr>
              <a:t>Academics: curriculum, syllabus parsing, auto faculty-mapping, clash-safe auto-timetable, attendance.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900" b="0" i="0">
                <a:solidFill>
                  <a:srgbClr val="14B8A6"/>
                </a:solidFill>
                <a:latin typeface="Inter"/>
              </a:rPr>
              <a:t>●  </a:t>
            </a:r>
            <a:r>
              <a:rPr sz="1200" b="0" i="0">
                <a:solidFill>
                  <a:srgbClr val="475569"/>
                </a:solidFill>
                <a:latin typeface="Inter"/>
              </a:rPr>
              <a:t>Assessment: question bank, AI paper generation, secure online exams, AI + manual grading, transcripts.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900" b="0" i="0">
                <a:solidFill>
                  <a:srgbClr val="14B8A6"/>
                </a:solidFill>
                <a:latin typeface="Inter"/>
              </a:rPr>
              <a:t>●  </a:t>
            </a:r>
            <a:r>
              <a:rPr sz="1200" b="0" i="0">
                <a:solidFill>
                  <a:srgbClr val="475569"/>
                </a:solidFill>
                <a:latin typeface="Inter"/>
              </a:rPr>
              <a:t>College operations: fees, challans, payments, library, inventory, procurement, payroll, no-dues.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900" b="0" i="0">
                <a:solidFill>
                  <a:srgbClr val="14B8A6"/>
                </a:solidFill>
                <a:latin typeface="Inter"/>
              </a:rPr>
              <a:t>●  </a:t>
            </a:r>
            <a:r>
              <a:rPr sz="1200" b="0" i="0">
                <a:solidFill>
                  <a:srgbClr val="475569"/>
                </a:solidFill>
                <a:latin typeface="Inter"/>
              </a:rPr>
              <a:t>Learning: 4 certificate programmes, placement prep, coding lab, ATS resume builder.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457200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Inter"/>
              </a:rPr>
              <a:t>THE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57839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Inter"/>
              </a:rPr>
              <a:t>One assessment loop, closed — with a human on every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47088"/>
            <a:ext cx="2079894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847088"/>
            <a:ext cx="2079894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048256"/>
            <a:ext cx="17141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766E"/>
                </a:solidFill>
                <a:latin typeface="Inter"/>
              </a:rPr>
              <a:t>1 · Bank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578608"/>
            <a:ext cx="171413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Inter"/>
              </a:rPr>
              <a:t>Curated + imported + AI-generated questions, tagged by topic and difficulty.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1414" y="1847088"/>
            <a:ext cx="2079894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11414" y="1847088"/>
            <a:ext cx="2079894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4294" y="2048256"/>
            <a:ext cx="17141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766E"/>
                </a:solidFill>
                <a:latin typeface="Inter"/>
              </a:rPr>
              <a:t>2 · Paper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4294" y="2578608"/>
            <a:ext cx="171413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Inter"/>
              </a:rPr>
              <a:t>Blueprint by unit, marks and difficulty. AI drafts; faculty approve.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55900" y="1847088"/>
            <a:ext cx="2079894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55900" y="1847088"/>
            <a:ext cx="2079894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80" y="2048256"/>
            <a:ext cx="17141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766E"/>
                </a:solidFill>
                <a:latin typeface="Inter"/>
              </a:rPr>
              <a:t>3 · Exam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8780" y="2578608"/>
            <a:ext cx="171413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Inter"/>
              </a:rPr>
              <a:t>Online test with lockdown, section breaks, autosave and expiry recovery.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00386" y="1847088"/>
            <a:ext cx="2079894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00386" y="1847088"/>
            <a:ext cx="2079894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83266" y="2048256"/>
            <a:ext cx="17141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766E"/>
                </a:solidFill>
                <a:latin typeface="Inter"/>
              </a:rPr>
              <a:t>4 · Grade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83266" y="2578608"/>
            <a:ext cx="171413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Inter"/>
              </a:rPr>
              <a:t>MCQ auto-grade; AI grading suggestions with confidence scores and rubrics.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44872" y="1847088"/>
            <a:ext cx="2079894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44872" y="1847088"/>
            <a:ext cx="2079894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27752" y="2048256"/>
            <a:ext cx="17141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766E"/>
                </a:solidFill>
                <a:latin typeface="Inter"/>
              </a:rPr>
              <a:t>5 · 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7752" y="2578608"/>
            <a:ext cx="171413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Inter"/>
              </a:rPr>
              <a:t>Grade records → transcripts; university result files imported back in.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434840"/>
            <a:ext cx="10874959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700"/>
              </a:spcAft>
            </a:pPr>
            <a:r>
              <a:rPr sz="900" b="0" i="0">
                <a:solidFill>
                  <a:srgbClr val="14B8A6"/>
                </a:solidFill>
                <a:latin typeface="Inter"/>
              </a:rPr>
              <a:t>●  </a:t>
            </a:r>
            <a:r>
              <a:rPr sz="1150" b="0" i="0">
                <a:solidFill>
                  <a:srgbClr val="475569"/>
                </a:solidFill>
                <a:latin typeface="Inter"/>
              </a:rPr>
              <a:t>No-AI fallback: a deterministic parser reads an uploaded DOCX/PDF paper with no API key at all.</a:t>
            </a:r>
          </a:p>
          <a:p>
            <a:pPr algn="l">
              <a:lnSpc>
                <a:spcPct val="114000"/>
              </a:lnSpc>
              <a:spcAft>
                <a:spcPts val="700"/>
              </a:spcAft>
            </a:pPr>
            <a:r>
              <a:rPr sz="900" b="0" i="0">
                <a:solidFill>
                  <a:srgbClr val="14B8A6"/>
                </a:solidFill>
                <a:latin typeface="Inter"/>
              </a:rPr>
              <a:t>●  </a:t>
            </a:r>
            <a:r>
              <a:rPr sz="1150" b="0" i="0">
                <a:solidFill>
                  <a:srgbClr val="475569"/>
                </a:solidFill>
                <a:latin typeface="Inter"/>
              </a:rPr>
              <a:t>Multi-provider AI (Gemini / OpenAI / DeepSeek) behind one adapter, with tiers, daily caps, caching and per-college circuit breakers.</a:t>
            </a:r>
          </a:p>
          <a:p>
            <a:pPr algn="l">
              <a:lnSpc>
                <a:spcPct val="114000"/>
              </a:lnSpc>
              <a:spcAft>
                <a:spcPts val="700"/>
              </a:spcAft>
            </a:pPr>
            <a:r>
              <a:rPr sz="900" b="0" i="0">
                <a:solidFill>
                  <a:srgbClr val="14B8A6"/>
                </a:solidFill>
                <a:latin typeface="Inter"/>
              </a:rPr>
              <a:t>●  </a:t>
            </a:r>
            <a:r>
              <a:rPr sz="1150" b="0" i="0">
                <a:solidFill>
                  <a:srgbClr val="475569"/>
                </a:solidFill>
                <a:latin typeface="Inter"/>
              </a:rPr>
              <a:t>Measured AI cost: ₹23 per student per year at base volume (₹46 budgeted with a 2× buffer).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457200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Inter"/>
              </a:rPr>
              <a:t>INDIA-FIRST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57839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Inter"/>
              </a:rPr>
              <a:t>Global software cannot be configured into an Indian college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47088"/>
            <a:ext cx="5400903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084832"/>
            <a:ext cx="310896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31136"/>
            <a:ext cx="4888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Inter"/>
              </a:rPr>
              <a:t>Six languages, including AI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70048"/>
            <a:ext cx="4888839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75569"/>
                </a:solidFill>
                <a:latin typeface="Inter"/>
              </a:rPr>
              <a:t>Kannada, Tamil, Telugu, Malayalam, Hindi, English — the interface AND generated questions, options and explanations in native Unicode script.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3863" y="1847088"/>
            <a:ext cx="5400903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79895" y="2084832"/>
            <a:ext cx="310896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9895" y="2231136"/>
            <a:ext cx="4888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Inter"/>
              </a:rPr>
              <a:t>UUCMS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9895" y="2670048"/>
            <a:ext cx="4888839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75569"/>
                </a:solidFill>
                <a:latin typeface="Inter"/>
              </a:rPr>
              <a:t>Karnataka's mandatory state portal: candidate ID, USN capture, import matching, status sync and eligibility checks — the workflow every college performs by hand today.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114800"/>
            <a:ext cx="5400903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4352544"/>
            <a:ext cx="310896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498848"/>
            <a:ext cx="4888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Inter"/>
              </a:rPr>
              <a:t>Scheme packs as configuration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37760"/>
            <a:ext cx="4888839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75569"/>
                </a:solidFill>
                <a:latin typeface="Inter"/>
              </a:rPr>
              <a:t>BCU SEP-2024 and KUD NEP-CBAE presets plus per-college custom packs: marks split, internal assessment, attendance slabs, pass rules and grade tables drive the whole system.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863" y="4114800"/>
            <a:ext cx="5400903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79895" y="4352544"/>
            <a:ext cx="310896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9895" y="4498848"/>
            <a:ext cx="4888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Inter"/>
              </a:rPr>
              <a:t>Exam office, university-shaped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4937760"/>
            <a:ext cx="4888839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75569"/>
                </a:solidFill>
                <a:latin typeface="Inter"/>
              </a:rPr>
              <a:t>Hall tickets with 75 % attendance blocking, room allotment, QR verification, result import for BCU-format files, marksheets and transcripts.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457200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Inter"/>
              </a:rPr>
              <a:t>THE ELEARNING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57839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Inter"/>
              </a:rPr>
              <a:t>The learning business is already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89888"/>
            <a:ext cx="106006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4748B"/>
                </a:solidFill>
                <a:latin typeface="Inter"/>
              </a:rPr>
              <a:t>Institutions pay for software; learners pay for outcomes. We already have both in one product.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47088"/>
            <a:ext cx="2613583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847088"/>
            <a:ext cx="50292" cy="129844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93392"/>
            <a:ext cx="21563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F766E"/>
                </a:solidFill>
                <a:latin typeface="Inter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487168"/>
            <a:ext cx="2156383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475569"/>
                </a:solidFill>
                <a:latin typeface="Inter"/>
              </a:rPr>
              <a:t>certificate programmes: GenAI · Digital Marketing · Project Management · HR Analytics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1679" y="1847088"/>
            <a:ext cx="2613583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1679" y="1847088"/>
            <a:ext cx="50292" cy="129844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9423" y="1993392"/>
            <a:ext cx="21563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F766E"/>
                </a:solidFill>
                <a:latin typeface="Inter"/>
              </a:rPr>
              <a:t>32/135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9423" y="2487168"/>
            <a:ext cx="2156383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475569"/>
                </a:solidFill>
                <a:latin typeface="Inter"/>
              </a:rPr>
              <a:t>modules / lessons authored to a validated, version-controlled format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6431" y="1847088"/>
            <a:ext cx="2613583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6431" y="1847088"/>
            <a:ext cx="50292" cy="129844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4175" y="1993392"/>
            <a:ext cx="21563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F766E"/>
                </a:solidFill>
                <a:latin typeface="Inter"/>
              </a:rPr>
              <a:t>984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4175" y="2487168"/>
            <a:ext cx="2156383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475569"/>
                </a:solidFill>
                <a:latin typeface="Inter"/>
              </a:rPr>
              <a:t>quiz items + projects, capstones, rubrics and facilitator guides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11183" y="1847088"/>
            <a:ext cx="2613583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11183" y="1847088"/>
            <a:ext cx="50292" cy="129844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48927" y="1993392"/>
            <a:ext cx="21563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F766E"/>
                </a:solidFill>
                <a:latin typeface="Inter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8927" y="2487168"/>
            <a:ext cx="2156383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475569"/>
                </a:solidFill>
                <a:latin typeface="Inter"/>
              </a:rPr>
              <a:t>Indian languages the same engine delivers 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401568"/>
            <a:ext cx="10874959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900" b="0" i="0">
                <a:solidFill>
                  <a:srgbClr val="14B8A6"/>
                </a:solidFill>
                <a:latin typeface="Inter"/>
              </a:rPr>
              <a:t>●  </a:t>
            </a:r>
            <a:r>
              <a:rPr sz="1200" b="0" i="0">
                <a:solidFill>
                  <a:srgbClr val="475569"/>
                </a:solidFill>
                <a:latin typeface="Inter"/>
              </a:rPr>
              <a:t>Public shareable catalog for lead generation; students enrol inside the app they already open for attendance and results.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900" b="0" i="0">
                <a:solidFill>
                  <a:srgbClr val="14B8A6"/>
                </a:solidFill>
                <a:latin typeface="Inter"/>
              </a:rPr>
              <a:t>●  </a:t>
            </a:r>
            <a:r>
              <a:rPr sz="1200" b="0" i="0">
                <a:solidFill>
                  <a:srgbClr val="475569"/>
                </a:solidFill>
                <a:latin typeface="Inter"/>
              </a:rPr>
              <a:t>Also shipped: server-side coding lab, previous-year-paper corpus (English + Kannada), placement prep studio, ATS resume builder.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900" b="0" i="0">
                <a:solidFill>
                  <a:srgbClr val="14B8A6"/>
                </a:solidFill>
                <a:latin typeface="Inter"/>
              </a:rPr>
              <a:t>●  </a:t>
            </a:r>
            <a:r>
              <a:rPr sz="1200" b="0" i="0">
                <a:solidFill>
                  <a:srgbClr val="475569"/>
                </a:solidFill>
                <a:latin typeface="Inter"/>
              </a:rPr>
              <a:t>Certificate issuance, progress sync per college, offline caching and quiz generation all reuse the assessment engine.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457200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Inter"/>
              </a:rPr>
              <a:t>WHY WE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57839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Inter"/>
              </a:rPr>
              <a:t>Where every other product stops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828800"/>
          <a:ext cx="11612880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74920"/>
                <a:gridCol w="1645920"/>
                <a:gridCol w="1645920"/>
                <a:gridCol w="1645920"/>
                <a:gridCol w="160020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Inter"/>
                        </a:rPr>
                        <a:t>Capability</a:t>
                      </a:r>
                    </a:p>
                  </a:txBody>
                  <a:tcPr marL="82296" marR="82296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Inter"/>
                        </a:rPr>
                        <a:t>Legacy ERP</a:t>
                      </a:r>
                    </a:p>
                  </a:txBody>
                  <a:tcPr marL="82296" marR="82296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Inter"/>
                        </a:rPr>
                        <a:t>SIS + LMS</a:t>
                      </a:r>
                    </a:p>
                  </a:txBody>
                  <a:tcPr marL="82296" marR="82296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Inter"/>
                        </a:rPr>
                        <a:t>AI paper tool</a:t>
                      </a:r>
                    </a:p>
                  </a:txBody>
                  <a:tcPr marL="82296" marR="82296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Inter"/>
                        </a:rPr>
                        <a:t>Vriddhi</a:t>
                      </a:r>
                    </a:p>
                  </a:txBody>
                  <a:tcPr marL="82296" marR="82296" marT="18288" marB="18288" anchor="ctr">
                    <a:solidFill>
                      <a:srgbClr val="0B122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Inter"/>
                        </a:rPr>
                        <a:t>AI question-paper generation with approval trail</a:t>
                      </a:r>
                    </a:p>
                  </a:txBody>
                  <a:tcPr marL="82296" marR="82296" marT="18288" marB="18288"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475569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475569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475569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marL="82296" marR="82296" marT="18288" marB="18288"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F766E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marL="82296" marR="82296" marT="18288" marB="18288" anchor="ctr">
                    <a:solidFill>
                      <a:srgbClr val="F0FD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Inter"/>
                        </a:rPr>
                        <a:t>Reads an uploaded paper with no AI key (deterministic)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475569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475569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475569"/>
                          </a:solidFill>
                          <a:latin typeface="Inter"/>
                        </a:rPr>
                        <a:t>Partial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F766E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Inter"/>
                        </a:rPr>
                        <a:t>Secure online exam: lockdown, autosave, auto-submit</a:t>
                      </a:r>
                    </a:p>
                  </a:txBody>
                  <a:tcPr marL="82296" marR="82296" marT="18288" marB="18288"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475569"/>
                          </a:solidFill>
                          <a:latin typeface="Inter"/>
                        </a:rPr>
                        <a:t>Partial</a:t>
                      </a:r>
                    </a:p>
                  </a:txBody>
                  <a:tcPr marL="82296" marR="82296" marT="18288" marB="18288"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475569"/>
                          </a:solidFill>
                          <a:latin typeface="Inter"/>
                        </a:rPr>
                        <a:t>Partial</a:t>
                      </a:r>
                    </a:p>
                  </a:txBody>
                  <a:tcPr marL="82296" marR="82296" marT="18288" marB="18288"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475569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F766E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marL="82296" marR="82296" marT="18288" marB="18288" anchor="ctr">
                    <a:solidFill>
                      <a:srgbClr val="F0FD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Inter"/>
                        </a:rPr>
                        <a:t>AI grading with confidence + rubric breakdown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475569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475569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475569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F766E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Inter"/>
                        </a:rPr>
                        <a:t>Grade records → transcripts + university result import</a:t>
                      </a:r>
                    </a:p>
                  </a:txBody>
                  <a:tcPr marL="82296" marR="82296" marT="18288" marB="18288"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475569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marL="82296" marR="82296" marT="18288" marB="18288"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475569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marL="82296" marR="82296" marT="18288" marB="18288"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475569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F766E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marL="82296" marR="82296" marT="18288" marB="18288" anchor="ctr">
                    <a:solidFill>
                      <a:srgbClr val="F0FD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Inter"/>
                        </a:rPr>
                        <a:t>Six Indian languages incl. native-script AI output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475569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475569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475569"/>
                          </a:solidFill>
                          <a:latin typeface="Inter"/>
                        </a:rPr>
                        <a:t>Partial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F766E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Inter"/>
                        </a:rPr>
                        <a:t>State portal (UUCMS) + scheme packs as configuration</a:t>
                      </a:r>
                    </a:p>
                  </a:txBody>
                  <a:tcPr marL="82296" marR="82296" marT="18288" marB="18288"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475569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475569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475569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F766E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marL="82296" marR="82296" marT="18288" marB="18288" anchor="ctr">
                    <a:solidFill>
                      <a:srgbClr val="F0FD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Inter"/>
                        </a:rPr>
                        <a:t>Certificate programmes &amp; placement prep included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475569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475569"/>
                          </a:solidFill>
                          <a:latin typeface="Inter"/>
                        </a:rPr>
                        <a:t>Partial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475569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F766E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Inter"/>
                        </a:rPr>
                        <a:t>Price per student per year</a:t>
                      </a:r>
                    </a:p>
                  </a:txBody>
                  <a:tcPr marL="82296" marR="82296" marT="18288" marB="18288"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475569"/>
                          </a:solidFill>
                          <a:latin typeface="Inter"/>
                        </a:rPr>
                        <a:t>₹300–1,200</a:t>
                      </a:r>
                    </a:p>
                  </a:txBody>
                  <a:tcPr marL="82296" marR="82296" marT="18288" marB="18288"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475569"/>
                          </a:solidFill>
                          <a:latin typeface="Inter"/>
                        </a:rPr>
                        <a:t>₹300–1,200</a:t>
                      </a:r>
                    </a:p>
                  </a:txBody>
                  <a:tcPr marL="82296" marR="82296" marT="18288" marB="18288"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475569"/>
                          </a:solidFill>
                          <a:latin typeface="Inter"/>
                        </a:rPr>
                        <a:t>₹500/20 papers</a:t>
                      </a:r>
                    </a:p>
                  </a:txBody>
                  <a:tcPr marL="82296" marR="82296" marT="18288" marB="18288" anchor="ctr">
                    <a:solidFill>
                      <a:srgbClr val="F0F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F766E"/>
                          </a:solidFill>
                          <a:latin typeface="Inter"/>
                        </a:rPr>
                        <a:t>₹449 with content</a:t>
                      </a:r>
                    </a:p>
                  </a:txBody>
                  <a:tcPr marL="82296" marR="82296" marT="18288" marB="18288" anchor="ctr"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457200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Inter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57839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Inter"/>
              </a:rPr>
              <a:t>Four revenue layers on one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47088"/>
            <a:ext cx="5400903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084832"/>
            <a:ext cx="310896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31136"/>
            <a:ext cx="4888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Inter"/>
              </a:rPr>
              <a:t>L1 · Campus licence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70048"/>
            <a:ext cx="4888839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75569"/>
                </a:solidFill>
                <a:latin typeface="Inter"/>
              </a:rPr>
              <a:t>₹449 per student per year + ₹2.5 L onboarding. All modules, unlimited users, AI included. A 5,000-student college = ₹22.45 L per year.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3863" y="1847088"/>
            <a:ext cx="5400903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79895" y="2084832"/>
            <a:ext cx="310896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9895" y="2231136"/>
            <a:ext cx="4888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Inter"/>
              </a:rPr>
              <a:t>L2 · Add-on packs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9895" y="2670048"/>
            <a:ext cx="4888839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75569"/>
                </a:solidFill>
                <a:latin typeface="Inter"/>
              </a:rPr>
              <a:t>₹40–120 per student per year each: Placement Pack (built), Coding Lab, Prep Studio, alerts, library automation, OBE/NAAC reporting.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114800"/>
            <a:ext cx="5400903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4352544"/>
            <a:ext cx="310896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498848"/>
            <a:ext cx="4888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Inter"/>
              </a:rPr>
              <a:t>L3 · Learning programmes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37760"/>
            <a:ext cx="4888839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75569"/>
                </a:solidFill>
                <a:latin typeface="Inter"/>
              </a:rPr>
              <a:t>₹999–2,999 per learner for certificate programmes, or ₹150–400 per student bundled through the college. Content cost is fixed; delivery is near-zero marginal cost.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863" y="4114800"/>
            <a:ext cx="5400903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79895" y="4352544"/>
            <a:ext cx="310896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9895" y="4498848"/>
            <a:ext cx="4888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Inter"/>
              </a:rPr>
              <a:t>L4 · Platform &amp; services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4937760"/>
            <a:ext cx="4888839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75569"/>
                </a:solidFill>
                <a:latin typeface="Inter"/>
              </a:rPr>
              <a:t>University dashboards, white-label delivery for content partners, corporate L&amp;D and proctored hiring assessments: ₹5–25 L per year contracts.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457200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Inter"/>
              </a:rPr>
              <a:t>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57839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Inter"/>
              </a:rPr>
              <a:t>A 5,000-student college costs ₹18,123 a year to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89888"/>
            <a:ext cx="106006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4748B"/>
                </a:solidFill>
                <a:latin typeface="Inter"/>
              </a:rPr>
              <a:t>Fully serverless, Mumbai region, no idle servers. Cost model reproducible from the repository.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47088"/>
            <a:ext cx="2613583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847088"/>
            <a:ext cx="50292" cy="129844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93392"/>
            <a:ext cx="21563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F766E"/>
                </a:solidFill>
                <a:latin typeface="Inter"/>
              </a:rPr>
              <a:t>₹22.45 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487168"/>
            <a:ext cx="2156383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475569"/>
                </a:solidFill>
                <a:latin typeface="Inter"/>
              </a:rPr>
              <a:t>revenue per 5,000-student college at ₹449/student/year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1679" y="1847088"/>
            <a:ext cx="2613583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1679" y="1847088"/>
            <a:ext cx="50292" cy="129844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9423" y="1993392"/>
            <a:ext cx="21563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F766E"/>
                </a:solidFill>
                <a:latin typeface="Inter"/>
              </a:rPr>
              <a:t>₹18,123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9423" y="2487168"/>
            <a:ext cx="2156383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475569"/>
                </a:solidFill>
                <a:latin typeface="Inter"/>
              </a:rPr>
              <a:t>cloud infrastructure per year (₹27 K budgeted with buffer)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6431" y="1847088"/>
            <a:ext cx="2613583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6431" y="1847088"/>
            <a:ext cx="50292" cy="129844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4175" y="1993392"/>
            <a:ext cx="21563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F766E"/>
                </a:solidFill>
                <a:latin typeface="Inter"/>
              </a:rPr>
              <a:t>₹1.16 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4175" y="2487168"/>
            <a:ext cx="2156383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475569"/>
                </a:solidFill>
                <a:latin typeface="Inter"/>
              </a:rPr>
              <a:t>AI per year at base volume — ₹23 per student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11183" y="1847088"/>
            <a:ext cx="2613583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11183" y="1847088"/>
            <a:ext cx="50292" cy="129844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48927" y="1993392"/>
            <a:ext cx="21563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F766E"/>
                </a:solidFill>
                <a:latin typeface="Inter"/>
              </a:rPr>
              <a:t>31–45 %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8927" y="2487168"/>
            <a:ext cx="2156383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475569"/>
                </a:solidFill>
                <a:latin typeface="Inter"/>
              </a:rPr>
              <a:t>gross margin with a shared team, and rising with every college added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401568"/>
            <a:ext cx="10874959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900" b="0" i="0">
                <a:solidFill>
                  <a:srgbClr val="14B8A6"/>
                </a:solidFill>
                <a:latin typeface="Inter"/>
              </a:rPr>
              <a:t>●  </a:t>
            </a:r>
            <a:r>
              <a:rPr sz="1200" b="0" i="0">
                <a:solidFill>
                  <a:srgbClr val="475569"/>
                </a:solidFill>
                <a:latin typeface="Inter"/>
              </a:rPr>
              <a:t>Margin is structural: colleges share one deployment and one fixed team cost; infrastructure is 0.08 % of revenue.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900" b="0" i="0">
                <a:solidFill>
                  <a:srgbClr val="14B8A6"/>
                </a:solidFill>
                <a:latin typeface="Inter"/>
              </a:rPr>
              <a:t>●  </a:t>
            </a:r>
            <a:r>
              <a:rPr sz="1200" b="0" i="0">
                <a:solidFill>
                  <a:srgbClr val="475569"/>
                </a:solidFill>
                <a:latin typeface="Inter"/>
              </a:rPr>
              <a:t>Exam-day peaks are not a cost event: 1,000 simultaneous test starts ≈ ₹15 of usage, auto-scaled.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900" b="0" i="0">
                <a:solidFill>
                  <a:srgbClr val="14B8A6"/>
                </a:solidFill>
                <a:latin typeface="Inter"/>
              </a:rPr>
              <a:t>●  </a:t>
            </a:r>
            <a:r>
              <a:rPr sz="1200" b="0" i="0">
                <a:solidFill>
                  <a:srgbClr val="475569"/>
                </a:solidFill>
                <a:latin typeface="Inter"/>
              </a:rPr>
              <a:t>Pricing floor measured, not guessed: ₹399 with a 3-year commitment, never below ₹349.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457200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Inter"/>
              </a:rPr>
              <a:t>TRACTION — STATED HONESTLY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57839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Inter"/>
              </a:rPr>
              <a:t>What is proven today, and what this round proves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47088"/>
            <a:ext cx="53917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847088"/>
            <a:ext cx="50292" cy="42062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066543"/>
            <a:ext cx="4843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766E"/>
                </a:solidFill>
                <a:latin typeface="Inter"/>
              </a:rPr>
              <a:t>Proven and verifiable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487168"/>
            <a:ext cx="4843119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900"/>
              </a:spcAft>
            </a:pPr>
            <a:r>
              <a:rPr sz="900" b="0" i="0">
                <a:solidFill>
                  <a:srgbClr val="14B8A6"/>
                </a:solidFill>
                <a:latin typeface="Inter"/>
              </a:rPr>
              <a:t>●  </a:t>
            </a:r>
            <a:r>
              <a:rPr sz="1100" b="0" i="0">
                <a:solidFill>
                  <a:srgbClr val="475569"/>
                </a:solidFill>
                <a:latin typeface="Inter"/>
              </a:rPr>
              <a:t>Product complete end to end: ~1,540 tests green, tsc clean, 382 render checks, audited security rules.</a:t>
            </a:r>
          </a:p>
          <a:p>
            <a:pPr algn="l">
              <a:lnSpc>
                <a:spcPct val="114000"/>
              </a:lnSpc>
              <a:spcAft>
                <a:spcPts val="900"/>
              </a:spcAft>
            </a:pPr>
            <a:r>
              <a:rPr sz="900" b="0" i="0">
                <a:solidFill>
                  <a:srgbClr val="14B8A6"/>
                </a:solidFill>
                <a:latin typeface="Inter"/>
              </a:rPr>
              <a:t>●  </a:t>
            </a:r>
            <a:r>
              <a:rPr sz="1100" b="0" i="0">
                <a:solidFill>
                  <a:srgbClr val="475569"/>
                </a:solidFill>
                <a:latin typeface="Inter"/>
              </a:rPr>
              <a:t>Content authored: 4 certificate programmes, ~2,000 curated MCQs, scheme packs, PYQ corpus, Kannada collateral.</a:t>
            </a:r>
          </a:p>
          <a:p>
            <a:pPr algn="l">
              <a:lnSpc>
                <a:spcPct val="114000"/>
              </a:lnSpc>
              <a:spcAft>
                <a:spcPts val="900"/>
              </a:spcAft>
            </a:pPr>
            <a:r>
              <a:rPr sz="900" b="0" i="0">
                <a:solidFill>
                  <a:srgbClr val="14B8A6"/>
                </a:solidFill>
                <a:latin typeface="Inter"/>
              </a:rPr>
              <a:t>●  </a:t>
            </a:r>
            <a:r>
              <a:rPr sz="1100" b="0" i="0">
                <a:solidFill>
                  <a:srgbClr val="475569"/>
                </a:solidFill>
                <a:latin typeface="Inter"/>
              </a:rPr>
              <a:t>Cost model measured: ₹18 K/year infrastructure, ₹23/student/year AI, 31–45 % gross margin.</a:t>
            </a:r>
          </a:p>
          <a:p>
            <a:pPr algn="l">
              <a:lnSpc>
                <a:spcPct val="114000"/>
              </a:lnSpc>
              <a:spcAft>
                <a:spcPts val="900"/>
              </a:spcAft>
            </a:pPr>
            <a:r>
              <a:rPr sz="900" b="0" i="0">
                <a:solidFill>
                  <a:srgbClr val="14B8A6"/>
                </a:solidFill>
                <a:latin typeface="Inter"/>
              </a:rPr>
              <a:t>●  </a:t>
            </a:r>
            <a:r>
              <a:rPr sz="1100" b="0" i="0">
                <a:solidFill>
                  <a:srgbClr val="475569"/>
                </a:solidFill>
                <a:latin typeface="Inter"/>
              </a:rPr>
              <a:t>Audits written and dated: health, costing, competitive analysis, demo playbook — the boring evidence of a profession.</a:t>
            </a:r>
          </a:p>
          <a:p>
            <a:pPr algn="l">
              <a:lnSpc>
                <a:spcPct val="114000"/>
              </a:lnSpc>
              <a:spcAft>
                <a:spcPts val="900"/>
              </a:spcAft>
            </a:pPr>
            <a:r>
              <a:rPr sz="900" b="0" i="0">
                <a:solidFill>
                  <a:srgbClr val="14B8A6"/>
                </a:solidFill>
                <a:latin typeface="Inter"/>
              </a:rPr>
              <a:t>●  </a:t>
            </a:r>
            <a:r>
              <a:rPr sz="1100" b="0" i="0">
                <a:solidFill>
                  <a:srgbClr val="475569"/>
                </a:solidFill>
                <a:latin typeface="Inter"/>
              </a:rPr>
              <a:t>&lt;colleges in pilot conversation&gt; colleges in active conversation; &lt;n&gt; letters of intent signed.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847088"/>
            <a:ext cx="5391759" cy="4206240"/>
          </a:xfrm>
          <a:prstGeom prst="roundRect">
            <a:avLst>
              <a:gd name="adj" fmla="val 5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7327" y="2066543"/>
            <a:ext cx="4843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EEAD4"/>
                </a:solidFill>
                <a:latin typeface="Inter"/>
              </a:rPr>
              <a:t>Not yet — and this is the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7327" y="2487168"/>
            <a:ext cx="4843119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50" b="1" i="0">
                <a:solidFill>
                  <a:srgbClr val="5EEAD4"/>
                </a:solidFill>
                <a:latin typeface="Inter"/>
              </a:rPr>
              <a:t>Paying colleges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100" b="0" i="0">
                <a:solidFill>
                  <a:srgbClr val="CBD5E1"/>
                </a:solidFill>
                <a:latin typeface="Inter"/>
              </a:rPr>
              <a:t>0 today → 5 paid pilots in 90 days → 25 colleges by month 18.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50" b="1" i="0">
                <a:solidFill>
                  <a:srgbClr val="5EEAD4"/>
                </a:solidFill>
                <a:latin typeface="Inter"/>
              </a:rPr>
              <a:t>Learning revenue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100" b="0" i="0">
                <a:solidFill>
                  <a:srgbClr val="CBD5E1"/>
                </a:solidFill>
                <a:latin typeface="Inter"/>
              </a:rPr>
              <a:t>0 today → marketplace + certificates in 90 days → 1,000 paid learners.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50" b="1" i="0">
                <a:solidFill>
                  <a:srgbClr val="5EEAD4"/>
                </a:solidFill>
                <a:latin typeface="Inter"/>
              </a:rPr>
              <a:t>Procurement gaps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100" b="0" i="0">
                <a:solidFill>
                  <a:srgbClr val="CBD5E1"/>
                </a:solidFill>
                <a:latin typeface="Inter"/>
              </a:rPr>
              <a:t>Live payment keys, WhatsApp/SMS alerts, parent portal, OBE/NAAC pack — Horizon 1.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50" b="1" i="0">
                <a:solidFill>
                  <a:srgbClr val="5EEAD4"/>
                </a:solidFill>
                <a:latin typeface="Inter"/>
              </a:rPr>
              <a:t>Team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100" b="0" i="0">
                <a:solidFill>
                  <a:srgbClr val="CBD5E1"/>
                </a:solidFill>
                <a:latin typeface="Inter"/>
              </a:rPr>
              <a:t>&lt;n&gt; full-time today → +2 engineering, +2 sales/implementation, +1 content with this round.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457200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Inter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57839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Inter"/>
              </a:rPr>
              <a:t>Where the money goes, and what it buys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47088"/>
            <a:ext cx="5400903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084832"/>
            <a:ext cx="310896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31136"/>
            <a:ext cx="4888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Inter"/>
              </a:rPr>
              <a:t>Horizon 1 · 0–6 months · ₹35–45 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70048"/>
            <a:ext cx="4888839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75569"/>
                </a:solidFill>
                <a:latin typeface="Inter"/>
              </a:rPr>
              <a:t>Fee collection live · WhatsApp/SMS alerts · parent portal · marksheets &amp; transcripts · OBE/NAAC pack. Unlocks: every procurement checklist.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3863" y="1847088"/>
            <a:ext cx="5400903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79895" y="2084832"/>
            <a:ext cx="310896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9895" y="2231136"/>
            <a:ext cx="4888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Inter"/>
              </a:rPr>
              <a:t>Horizon 2 · 6–18 months · ₹50–70 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9895" y="2670048"/>
            <a:ext cx="4888839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75569"/>
                </a:solidFill>
                <a:latin typeface="Inter"/>
              </a:rPr>
              <a:t>Course marketplace · 10–14 certificate programmes · corporate L&amp;D · proctored assessment · placement pack v2. Unlocks: non-licence revenue at 85 %+ margin.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114800"/>
            <a:ext cx="5400903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4352544"/>
            <a:ext cx="310896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498848"/>
            <a:ext cx="4888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Inter"/>
              </a:rPr>
              <a:t>Horizon 3 · 18–36 months · ₹1–2 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37760"/>
            <a:ext cx="4888839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75569"/>
                </a:solidFill>
                <a:latin typeface="Inter"/>
              </a:rPr>
              <a:t>University deployments · second-state portal depth · verifiable credentials · proctoring · Gulf/SAARC. Unlocks: one signature, 30–100 colleges.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457200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Inter"/>
              </a:rPr>
              <a:t>THE ELEARNING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57839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Inter"/>
              </a:rPr>
              <a:t>A second business, sitting inside the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47088"/>
            <a:ext cx="6720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766E"/>
                </a:solidFill>
                <a:latin typeface="Inter"/>
              </a:rPr>
              <a:t>Why the learning layer compounds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40280"/>
            <a:ext cx="672084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900"/>
              </a:spcAft>
            </a:pPr>
            <a:r>
              <a:rPr sz="900" b="0" i="0">
                <a:solidFill>
                  <a:srgbClr val="14B8A6"/>
                </a:solidFill>
                <a:latin typeface="Inter"/>
              </a:rPr>
              <a:t>●  </a:t>
            </a:r>
            <a:r>
              <a:rPr sz="1150" b="0" i="0">
                <a:solidFill>
                  <a:srgbClr val="475569"/>
                </a:solidFill>
                <a:latin typeface="Inter"/>
              </a:rPr>
              <a:t>India online education: $4.48 B in 2026 → $23.9 B by 2034 (23 % CAGR); higher education is the fastest-growing segment.</a:t>
            </a:r>
          </a:p>
          <a:p>
            <a:pPr algn="l">
              <a:lnSpc>
                <a:spcPct val="114000"/>
              </a:lnSpc>
              <a:spcAft>
                <a:spcPts val="900"/>
              </a:spcAft>
            </a:pPr>
            <a:r>
              <a:rPr sz="900" b="0" i="0">
                <a:solidFill>
                  <a:srgbClr val="14B8A6"/>
                </a:solidFill>
                <a:latin typeface="Inter"/>
              </a:rPr>
              <a:t>●  </a:t>
            </a:r>
            <a:r>
              <a:rPr sz="1150" b="0" i="0">
                <a:solidFill>
                  <a:srgbClr val="475569"/>
                </a:solidFill>
                <a:latin typeface="Inter"/>
              </a:rPr>
              <a:t>India executive education and upskilling: $12.2 B with 22.7 M paid learners — and a 56.35 % employability rate demanding proof of skills.</a:t>
            </a:r>
          </a:p>
          <a:p>
            <a:pPr algn="l">
              <a:lnSpc>
                <a:spcPct val="114000"/>
              </a:lnSpc>
              <a:spcAft>
                <a:spcPts val="900"/>
              </a:spcAft>
            </a:pPr>
            <a:r>
              <a:rPr sz="900" b="0" i="0">
                <a:solidFill>
                  <a:srgbClr val="14B8A6"/>
                </a:solidFill>
                <a:latin typeface="Inter"/>
              </a:rPr>
              <a:t>●  </a:t>
            </a:r>
            <a:r>
              <a:rPr sz="1150" b="0" i="0">
                <a:solidFill>
                  <a:srgbClr val="475569"/>
                </a:solidFill>
                <a:latin typeface="Inter"/>
              </a:rPr>
              <a:t>NEP 2020 lets colleges grant credit for external, outcome-mapped learning — a legislated reason to buy.</a:t>
            </a:r>
          </a:p>
          <a:p>
            <a:pPr algn="l">
              <a:lnSpc>
                <a:spcPct val="114000"/>
              </a:lnSpc>
              <a:spcAft>
                <a:spcPts val="900"/>
              </a:spcAft>
            </a:pPr>
            <a:r>
              <a:rPr sz="900" b="0" i="0">
                <a:solidFill>
                  <a:srgbClr val="14B8A6"/>
                </a:solidFill>
                <a:latin typeface="Inter"/>
              </a:rPr>
              <a:t>●  </a:t>
            </a:r>
            <a:r>
              <a:rPr sz="1150" b="0" i="0">
                <a:solidFill>
                  <a:srgbClr val="475569"/>
                </a:solidFill>
                <a:latin typeface="Inter"/>
              </a:rPr>
              <a:t>Every edtech brand pays ₹1,500–4,000 to acquire a learner. Ours are already logged in, at zero media spend.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07808" y="1847088"/>
            <a:ext cx="40169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82128" y="2084831"/>
            <a:ext cx="34683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766E"/>
                </a:solidFill>
                <a:latin typeface="Inter"/>
              </a:rPr>
              <a:t>Three ways to monetise the same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2128" y="2487168"/>
            <a:ext cx="3468319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50" b="1" i="0">
                <a:solidFill>
                  <a:srgbClr val="0F172A"/>
                </a:solidFill>
                <a:latin typeface="Inter"/>
              </a:rPr>
              <a:t>Campus bundles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100" b="0" i="0">
                <a:solidFill>
                  <a:srgbClr val="475569"/>
                </a:solidFill>
                <a:latin typeface="Inter"/>
              </a:rPr>
              <a:t>₹150–400 per student per programme — sold to a buyer already paying us.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50" b="1" i="0">
                <a:solidFill>
                  <a:srgbClr val="0F172A"/>
                </a:solidFill>
                <a:latin typeface="Inter"/>
              </a:rPr>
              <a:t>Direct certification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100" b="0" i="0">
                <a:solidFill>
                  <a:srgbClr val="475569"/>
                </a:solidFill>
                <a:latin typeface="Inter"/>
              </a:rPr>
              <a:t>₹999–2,999 per learner, CAC target ₹400–900, 50,000 students reachable in 25 colleges.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50" b="1" i="0">
                <a:solidFill>
                  <a:srgbClr val="0F172A"/>
                </a:solidFill>
                <a:latin typeface="Inter"/>
              </a:rPr>
              <a:t>Corporate &amp; government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100" b="0" i="0">
                <a:solidFill>
                  <a:srgbClr val="475569"/>
                </a:solidFill>
                <a:latin typeface="Inter"/>
              </a:rPr>
              <a:t>₹1,500–6,000 per seat, or ₹5–25 L platform contracts, for proctored certification.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457200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Inter"/>
              </a:rPr>
              <a:t>THE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57839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Inter"/>
              </a:rPr>
              <a:t>Why this gets harder to displace every semester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47088"/>
            <a:ext cx="3515258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084832"/>
            <a:ext cx="310896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31136"/>
            <a:ext cx="30031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Inter"/>
              </a:rPr>
              <a:t>Data gravity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70048"/>
            <a:ext cx="3003194" cy="914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75569"/>
                </a:solidFill>
                <a:latin typeface="Inter"/>
              </a:rPr>
              <a:t>Questions, attendance, grade records and transcripts accumulate inside the platform. Switching means losing the audit trail accreditors ask for.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218" y="1847088"/>
            <a:ext cx="3515258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94250" y="2084832"/>
            <a:ext cx="310896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250" y="2231136"/>
            <a:ext cx="30031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Inter"/>
              </a:rPr>
              <a:t>Content library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4250" y="2670048"/>
            <a:ext cx="3003194" cy="914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75569"/>
                </a:solidFill>
                <a:latin typeface="Inter"/>
              </a:rPr>
              <a:t>4 programmes, ~2,000 curated MCQs, scheme packs and a PYQ corpus — 6–12 months of authored work that competitors must buy or build.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9508" y="1847088"/>
            <a:ext cx="3515258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65540" y="2084832"/>
            <a:ext cx="310896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5540" y="2231136"/>
            <a:ext cx="30031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Inter"/>
              </a:rPr>
              <a:t>University configuration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5540" y="2670048"/>
            <a:ext cx="3003194" cy="914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75569"/>
                </a:solidFill>
                <a:latin typeface="Inter"/>
              </a:rPr>
              <a:t>Every scheme pack and portal integration turns the next college under that university into a 5-day onboarding, not a 5-week project.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977639"/>
            <a:ext cx="3515258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4215383"/>
            <a:ext cx="310896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361688"/>
            <a:ext cx="30031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Inter"/>
              </a:rPr>
              <a:t>AI cost 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800600"/>
            <a:ext cx="3003194" cy="914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75569"/>
                </a:solidFill>
                <a:latin typeface="Inter"/>
              </a:rPr>
              <a:t>Caching, tiers, caps and a deterministic fallback keep AI at ₹23/student/year — a price war we win against anyone who bolted AI 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38218" y="3977639"/>
            <a:ext cx="3515258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94250" y="4215383"/>
            <a:ext cx="310896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4250" y="4361688"/>
            <a:ext cx="30031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Inter"/>
              </a:rPr>
              <a:t>Serverless economics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4250" y="4800600"/>
            <a:ext cx="3003194" cy="914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75569"/>
                </a:solidFill>
                <a:latin typeface="Inter"/>
              </a:rPr>
              <a:t>₹18 K/year at 5,000 students, no on-premise, no idle servers — margin improves with every college.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09508" y="3977639"/>
            <a:ext cx="3515258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65540" y="4215383"/>
            <a:ext cx="310896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5540" y="4361688"/>
            <a:ext cx="300319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Inter"/>
              </a:rPr>
              <a:t>Vernacular capability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5540" y="4800600"/>
            <a:ext cx="3003194" cy="914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75569"/>
                </a:solidFill>
                <a:latin typeface="Inter"/>
              </a:rPr>
              <a:t>Six languages, authored in-script. Shipped as Kannada decks, booklets and question papers, not as a locale dropdown.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457200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Inter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57839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Inter"/>
              </a:rPr>
              <a:t>Who is building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47088"/>
            <a:ext cx="53917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847088"/>
            <a:ext cx="50292" cy="42062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066543"/>
            <a:ext cx="4843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766E"/>
                </a:solidFill>
                <a:latin typeface="Inter"/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487168"/>
            <a:ext cx="4843119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900"/>
              </a:spcAft>
            </a:pPr>
            <a:r>
              <a:rPr sz="900" b="0" i="0">
                <a:solidFill>
                  <a:srgbClr val="14B8A6"/>
                </a:solidFill>
                <a:latin typeface="Inter"/>
              </a:rPr>
              <a:t>●  </a:t>
            </a:r>
            <a:r>
              <a:rPr sz="1100" b="0" i="0">
                <a:solidFill>
                  <a:srgbClr val="475569"/>
                </a:solidFill>
                <a:latin typeface="Inter"/>
              </a:rPr>
              <a:t>&lt;Founder name&gt; — &lt;one line: what you did before, why you understand this problem&gt;.</a:t>
            </a:r>
          </a:p>
          <a:p>
            <a:pPr algn="l">
              <a:lnSpc>
                <a:spcPct val="114000"/>
              </a:lnSpc>
              <a:spcAft>
                <a:spcPts val="900"/>
              </a:spcAft>
            </a:pPr>
            <a:r>
              <a:rPr sz="900" b="0" i="0">
                <a:solidFill>
                  <a:srgbClr val="14B8A6"/>
                </a:solidFill>
                <a:latin typeface="Inter"/>
              </a:rPr>
              <a:t>●  </a:t>
            </a:r>
            <a:r>
              <a:rPr sz="1100" b="0" i="0">
                <a:solidFill>
                  <a:srgbClr val="475569"/>
                </a:solidFill>
                <a:latin typeface="Inter"/>
              </a:rPr>
              <a:t>&lt;Co-founder / lead engineer&gt; — &lt;one line&gt;.</a:t>
            </a:r>
          </a:p>
          <a:p>
            <a:pPr algn="l">
              <a:lnSpc>
                <a:spcPct val="114000"/>
              </a:lnSpc>
              <a:spcAft>
                <a:spcPts val="900"/>
              </a:spcAft>
            </a:pPr>
            <a:r>
              <a:rPr sz="900" b="0" i="0">
                <a:solidFill>
                  <a:srgbClr val="14B8A6"/>
                </a:solidFill>
                <a:latin typeface="Inter"/>
              </a:rPr>
              <a:t>●  </a:t>
            </a:r>
            <a:r>
              <a:rPr sz="1100" b="0" i="0">
                <a:solidFill>
                  <a:srgbClr val="475569"/>
                </a:solidFill>
                <a:latin typeface="Inter"/>
              </a:rPr>
              <a:t>&lt;Advisors: a principal, a university academic, a CA — anyone with standing&gt;.</a:t>
            </a:r>
          </a:p>
          <a:p>
            <a:pPr algn="l">
              <a:lnSpc>
                <a:spcPct val="114000"/>
              </a:lnSpc>
              <a:spcAft>
                <a:spcPts val="900"/>
              </a:spcAft>
            </a:pPr>
            <a:r>
              <a:rPr sz="900" b="0" i="0">
                <a:solidFill>
                  <a:srgbClr val="14B8A6"/>
                </a:solidFill>
                <a:latin typeface="Inter"/>
              </a:rPr>
              <a:t>●  </a:t>
            </a:r>
            <a:r>
              <a:rPr sz="1100" b="0" i="0">
                <a:solidFill>
                  <a:srgbClr val="475569"/>
                </a:solidFill>
                <a:latin typeface="Inter"/>
              </a:rPr>
              <a:t>Backed by an AI-assisted engineering process that produced 257 K lines with ~1,540 tests in &lt;n&gt; months.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847088"/>
            <a:ext cx="5391759" cy="4206240"/>
          </a:xfrm>
          <a:prstGeom prst="roundRect">
            <a:avLst>
              <a:gd name="adj" fmla="val 5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7327" y="2066543"/>
            <a:ext cx="4843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EEAD4"/>
                </a:solidFill>
                <a:latin typeface="Inter"/>
              </a:rPr>
              <a:t>Joining with this 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7327" y="2487168"/>
            <a:ext cx="4843119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50" b="1" i="0">
                <a:solidFill>
                  <a:srgbClr val="5EEAD4"/>
                </a:solidFill>
                <a:latin typeface="Inter"/>
              </a:rPr>
              <a:t>Engineering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100" b="0" i="0">
                <a:solidFill>
                  <a:srgbClr val="CBD5E1"/>
                </a:solidFill>
                <a:latin typeface="Inter"/>
              </a:rPr>
              <a:t>2 full-stack engineers — Horizons 1 and 2 features.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50" b="1" i="0">
                <a:solidFill>
                  <a:srgbClr val="5EEAD4"/>
                </a:solidFill>
                <a:latin typeface="Inter"/>
              </a:rPr>
              <a:t>Sales &amp; implementation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100" b="0" i="0">
                <a:solidFill>
                  <a:srgbClr val="CBD5E1"/>
                </a:solidFill>
                <a:latin typeface="Inter"/>
              </a:rPr>
              <a:t>2 people to run the pilot machine and onboard colleges (target: 5 colleges per quarter).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50" b="1" i="0">
                <a:solidFill>
                  <a:srgbClr val="5EEAD4"/>
                </a:solidFill>
                <a:latin typeface="Inter"/>
              </a:rPr>
              <a:t>Content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100" b="0" i="0">
                <a:solidFill>
                  <a:srgbClr val="CBD5E1"/>
                </a:solidFill>
                <a:latin typeface="Inter"/>
              </a:rPr>
              <a:t>1 instructional designer + subject experts on contract for 10 more programmes.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50" b="1" i="0">
                <a:solidFill>
                  <a:srgbClr val="5EEAD4"/>
                </a:solidFill>
                <a:latin typeface="Inter"/>
              </a:rPr>
              <a:t>Advisory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100" b="0" i="0">
                <a:solidFill>
                  <a:srgbClr val="CBD5E1"/>
                </a:solidFill>
                <a:latin typeface="Inter"/>
              </a:rPr>
              <a:t>A senior enterprise-SaaS mentor and a university-relations advisor.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457200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Inter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57839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Inter"/>
              </a:rPr>
              <a:t>&lt;₹1.5 Cr&gt; for &lt;15 %&gt; — and three specific introductions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47088"/>
            <a:ext cx="5400903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084832"/>
            <a:ext cx="310896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31136"/>
            <a:ext cx="4888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Inter"/>
              </a:rPr>
              <a:t>Pilot colleges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70048"/>
            <a:ext cx="4888839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75569"/>
                </a:solidFill>
                <a:latin typeface="Inter"/>
              </a:rPr>
              <a:t>Warm introductions to principals and chairmen in Karnataka, then Maharashtra and Tamil Nadu. Three introductions are worth more than ₹10 L of marketing.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3863" y="1847088"/>
            <a:ext cx="5400903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79895" y="2084832"/>
            <a:ext cx="310896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9895" y="2231136"/>
            <a:ext cx="4888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Inter"/>
              </a:rPr>
              <a:t>University relationships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9895" y="2670048"/>
            <a:ext cx="4888839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75569"/>
                </a:solidFill>
                <a:latin typeface="Inter"/>
              </a:rPr>
              <a:t>A conversation with a university's academic or examination wing to co-seed question banks and scheme packs — one win onboards 30–100 affiliated colleges.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886200"/>
            <a:ext cx="5400903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4123944"/>
            <a:ext cx="310896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270248"/>
            <a:ext cx="4888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172A"/>
                </a:solidFill>
                <a:latin typeface="Inter"/>
              </a:rPr>
              <a:t>Operating help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09160"/>
            <a:ext cx="4888839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75569"/>
                </a:solidFill>
                <a:latin typeface="Inter"/>
              </a:rPr>
              <a:t>A part-time enterprise-sales lead and a content partner for the certificate catalogue. Hiring is our real constraint, not capital.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925312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900" b="0" i="0">
                <a:solidFill>
                  <a:srgbClr val="14B8A6"/>
                </a:solidFill>
                <a:latin typeface="Inter"/>
              </a:rPr>
              <a:t>●  </a:t>
            </a:r>
            <a:r>
              <a:rPr sz="1100" b="0" i="0">
                <a:solidFill>
                  <a:srgbClr val="475569"/>
                </a:solidFill>
                <a:latin typeface="Inter"/>
              </a:rPr>
              <a:t>Use of funds: 40 % engineering · 18 % content · 25 % sales &amp; implementation · 6 % cloud/AI · 5 % legal &amp; compliance · 6 % contingency.</a:t>
            </a:r>
          </a:p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900" b="0" i="0">
                <a:solidFill>
                  <a:srgbClr val="14B8A6"/>
                </a:solidFill>
                <a:latin typeface="Inter"/>
              </a:rPr>
              <a:t>●  </a:t>
            </a:r>
            <a:r>
              <a:rPr sz="1100" b="0" i="0">
                <a:solidFill>
                  <a:srgbClr val="475569"/>
                </a:solidFill>
                <a:latin typeface="Inter"/>
              </a:rPr>
              <a:t>18-month milestones: 25 paying colleges, ₹1–1.5 Cr ARR, 10 certificate programmes, 1,000+ paid learners, 1 university agreement.</a:t>
            </a:r>
          </a:p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900" b="0" i="0">
                <a:solidFill>
                  <a:srgbClr val="14B8A6"/>
                </a:solidFill>
                <a:latin typeface="Inter"/>
              </a:rPr>
              <a:t>●  </a:t>
            </a:r>
            <a:r>
              <a:rPr sz="1100" b="0" i="0">
                <a:solidFill>
                  <a:srgbClr val="475569"/>
                </a:solidFill>
                <a:latin typeface="Inter"/>
              </a:rPr>
              <a:t>Governance we welcome: monthly metrics, quarterly board review, and a named risk register reviewed every quarter.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457200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Inter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1057839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Inter"/>
              </a:rPr>
              <a:t>Four windows are open at the same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89888"/>
            <a:ext cx="106006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4748B"/>
                </a:solidFill>
                <a:latin typeface="Inter"/>
              </a:rPr>
              <a:t>This combination will not be open in 2028.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47088"/>
            <a:ext cx="2613583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847088"/>
            <a:ext cx="50292" cy="129844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93392"/>
            <a:ext cx="21563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F766E"/>
                </a:solidFill>
                <a:latin typeface="Inter"/>
              </a:rPr>
              <a:t>NEP + NAAC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487168"/>
            <a:ext cx="2156383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475569"/>
                </a:solidFill>
                <a:latin typeface="Inter"/>
              </a:rPr>
              <a:t>Outcome evidence is now a funding condition, not a nicety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1679" y="1847088"/>
            <a:ext cx="2613583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1679" y="1847088"/>
            <a:ext cx="50292" cy="129844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9423" y="1993392"/>
            <a:ext cx="21563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F766E"/>
                </a:solidFill>
                <a:latin typeface="Inter"/>
              </a:rPr>
              <a:t>UUCMS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9423" y="2487168"/>
            <a:ext cx="2156383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475569"/>
                </a:solidFill>
                <a:latin typeface="Inter"/>
              </a:rPr>
              <a:t>Every Karnataka student is already inside a state portal — and no ERP connects to 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6431" y="1847088"/>
            <a:ext cx="2613583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6431" y="1847088"/>
            <a:ext cx="50292" cy="129844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4175" y="1993392"/>
            <a:ext cx="21563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F766E"/>
                </a:solidFill>
                <a:latin typeface="Inter"/>
              </a:rPr>
              <a:t>AI economics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4175" y="2487168"/>
            <a:ext cx="2156383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475569"/>
                </a:solidFill>
                <a:latin typeface="Inter"/>
              </a:rPr>
              <a:t>Frontier-quality generation in Indic scripts at ₹23 per student per year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11183" y="1847088"/>
            <a:ext cx="2613583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11183" y="1847088"/>
            <a:ext cx="50292" cy="129844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48927" y="1993392"/>
            <a:ext cx="21563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F766E"/>
                </a:solidFill>
                <a:latin typeface="Inter"/>
              </a:rPr>
              <a:t>ERP churn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8927" y="2487168"/>
            <a:ext cx="2156383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475569"/>
                </a:solidFill>
                <a:latin typeface="Inter"/>
              </a:rPr>
              <a:t>Colleges are replacing 10-year-old ERPs, not buying their first 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401568"/>
            <a:ext cx="10874959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900" b="0" i="0">
                <a:solidFill>
                  <a:srgbClr val="14B8A6"/>
                </a:solidFill>
                <a:latin typeface="Inter"/>
              </a:rPr>
              <a:t>●  </a:t>
            </a:r>
            <a:r>
              <a:rPr sz="1200" b="0" i="0">
                <a:solidFill>
                  <a:srgbClr val="475569"/>
                </a:solidFill>
                <a:latin typeface="Inter"/>
              </a:rPr>
              <a:t>The question is not whether Indian colleges will run on AI-native software — it is which vendor is already inside them when they decide.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900" b="0" i="0">
                <a:solidFill>
                  <a:srgbClr val="14B8A6"/>
                </a:solidFill>
                <a:latin typeface="Inter"/>
              </a:rPr>
              <a:t>●  </a:t>
            </a:r>
            <a:r>
              <a:rPr sz="1200" b="0" i="0">
                <a:solidFill>
                  <a:srgbClr val="475569"/>
                </a:solidFill>
                <a:latin typeface="Inter"/>
              </a:rPr>
              <a:t>Our answer is distribution-first: land through the exam paper, expand to the campus, then sell the learning.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riddhi-logo-horizontal-reverse@16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40080"/>
            <a:ext cx="2377440" cy="7860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0"/>
            <a:ext cx="6949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Inter"/>
              </a:rPr>
              <a:t>Let's grow together.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3246120"/>
            <a:ext cx="566928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566160"/>
            <a:ext cx="69494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500" b="1" i="0">
                <a:solidFill>
                  <a:srgbClr val="5EEAD4"/>
                </a:solidFill>
                <a:latin typeface="Inter"/>
              </a:rPr>
              <a:t>Vriddhi (वृद्धि) — growth through knowledge.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50" b="0" i="0">
                <a:solidFill>
                  <a:srgbClr val="CBD5E1"/>
                </a:solidFill>
                <a:latin typeface="Inter"/>
              </a:rPr>
              <a:t>Pilot onboarding for the first cohort of colleges starts in 30 days.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94A3B8"/>
                </a:solidFill>
                <a:latin typeface="Inter"/>
              </a:rPr>
              <a:t>&lt;your name&gt; · &lt;email&gt; · &lt;phone&gt; · www.vriddhi.in</a:t>
            </a:r>
          </a:p>
        </p:txBody>
      </p:sp>
      <p:pic>
        <p:nvPicPr>
          <p:cNvPr id="8" name="Picture 7" descr="vriddhi-mark-hero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2194560"/>
            <a:ext cx="3291840" cy="25375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