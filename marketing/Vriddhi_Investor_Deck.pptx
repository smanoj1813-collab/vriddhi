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914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5EEAD4"/>
                </a:solidFill>
                <a:latin typeface="Inter"/>
              </a:rPr>
              <a:t>INVESTOR DECK · 2026</a:t>
            </a:r>
          </a:p>
        </p:txBody>
      </p:sp>
      <p:pic>
        <p:nvPicPr>
          <p:cNvPr id="4" name="Picture 3" descr="vriddhi-logo-horizontal-reverse@1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325880"/>
            <a:ext cx="5120640" cy="169301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21792" y="3200400"/>
            <a:ext cx="566928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3419856"/>
            <a:ext cx="67665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i="0">
                <a:solidFill>
                  <a:srgbClr val="5EEAD4"/>
                </a:solidFill>
                <a:latin typeface="Inter"/>
              </a:rPr>
              <a:t>The AI-native academic operating system for Indian colleges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34340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</a:pPr>
            <a:r>
              <a:rPr sz="1250" b="0" i="0">
                <a:solidFill>
                  <a:srgbClr val="CBD5E1"/>
                </a:solidFill>
                <a:latin typeface="Inter"/>
              </a:rPr>
              <a:t>AI question papers · secure online exams · auto-grading · fees · attendance · results</a:t>
            </a:r>
          </a:p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94A3B8"/>
                </a:solidFill>
                <a:latin typeface="Inter"/>
              </a:rPr>
              <a:t>Six Indian languages · UUCMS-ready · ₹449 per student per year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051560"/>
            <a:ext cx="3840480" cy="475488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vriddhi-mark-her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9560" y="1828800"/>
            <a:ext cx="3566160" cy="2748998"/>
          </a:xfrm>
          <a:prstGeom prst="rect">
            <a:avLst/>
          </a:prstGeom>
        </p:spPr>
      </p:pic>
      <p:pic>
        <p:nvPicPr>
          <p:cNvPr id="10" name="Picture 9" descr="vriddhi-logo-horizontal-transparent@16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58200" y="4892040"/>
            <a:ext cx="2468880" cy="81627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172200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94A3B8"/>
                </a:solidFill>
                <a:latin typeface="Inter"/>
              </a:rPr>
              <a:t>Growth through knowledge  ·  Built in Karnataka  ·  &lt;your name&gt; · &lt;email&gt; · &lt;phone&gt;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THE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48,000 colleges are buying software this decade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6006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Inter"/>
              </a:rPr>
              <a:t>And they are already paying for far less than what we ship.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48,246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colleges + 1,289 universities in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1679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1679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423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4.50 Cr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students enrolled; GER 30 % and rising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6431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4175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₹300–1,200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already spent per student, per year, on ERP licences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183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1183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8927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$4.48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8927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India online education in 2026 → $23.9 B by 2034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401568"/>
            <a:ext cx="1087495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NEP 2020 and NAAC turned digital evidence into a procurement requirement, not a preference.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State portals (Karnataka's UUCMS) are mandatory for every student — and no mainstream ERP is built around them.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Incumbent ERPs are 10–20 years old: no AI, English-only, 3–9 month deployments, per-student licences.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A college runs on 9 disconnected tools — and one weekend-eating ritual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47088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Fragmented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Attendance, fees, timetables and results live in separate spreadsheets. Every semester ends with manual re-entry and no single source of truth.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1847088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9895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9895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The exam-paper bottleneck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895" y="2670048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Faculty hand-build a paper for every subject, every semester — then spend weekends marking scripts. Paper-making, not teaching, consumes the cycle.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14800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352544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9884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Compliance by archaeology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NAAC, the university and the state portal each demand evidence. Colleges reconstruct it from registers weeks after the fact.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4114800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9895" y="4352544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9895" y="449884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Students get nothing back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937760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No app, no placements, no visibility. The institution's own data never reaches the learner who generated it.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THE WEDGE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We get in through the exam paper, then own the semester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47088"/>
            <a:ext cx="6720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Inter"/>
              </a:rPr>
              <a:t>Why this door opens first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40280"/>
            <a:ext cx="67208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It is the most painful, most visible, most repeated task in the college — and nobody sells a complete answer to it.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It produces an artefact the principal can hold: a print-ready paper in the university's format, with an approval trail.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The question bank built here becomes the cold-start for attendance analytics, objective exams and grading.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Faculty adopt it because the AI drafts and they decide — nothing is published without a human approval.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07808" y="1847088"/>
            <a:ext cx="40169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2084831"/>
            <a:ext cx="34683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Inter"/>
              </a:rPr>
              <a:t>Land → expand → monetise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2487168"/>
            <a:ext cx="346831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0F172A"/>
                </a:solidFill>
                <a:latin typeface="Inter"/>
              </a:rPr>
              <a:t>Land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00" b="0" i="0">
                <a:solidFill>
                  <a:srgbClr val="475569"/>
                </a:solidFill>
                <a:latin typeface="Inter"/>
              </a:rPr>
              <a:t>Exam cycle: question bank, AI papers, online tests, auto-grading.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0F172A"/>
                </a:solidFill>
                <a:latin typeface="Inter"/>
              </a:rPr>
              <a:t>Expand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00" b="0" i="0">
                <a:solidFill>
                  <a:srgbClr val="475569"/>
                </a:solidFill>
                <a:latin typeface="Inter"/>
              </a:rPr>
              <a:t>Attendance, timetable, curriculum, fees, library, payroll, analytics.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0F172A"/>
                </a:solidFill>
                <a:latin typeface="Inter"/>
              </a:rPr>
              <a:t>Monetise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00" b="0" i="0">
                <a:solidFill>
                  <a:srgbClr val="475569"/>
                </a:solidFill>
                <a:latin typeface="Inter"/>
              </a:rPr>
              <a:t>Certificate programmes and placement prep sold to the same installed base.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WHAT IS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Seven role portals. One product. Shipped.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6006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Inter"/>
              </a:rPr>
              <a:t>Not a prototype, not a mock-up — verified in the repository at commit 091c6d5.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role portals: student, faculty, HOD, admin, office, superadmin, employee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1679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1679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423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160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backend functions (144 callable · 6 HTTP · 10 scheduled)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6431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4175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257K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lines of TypeScript · 1,827 lines of security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183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1183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8927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1,540+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8927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automated tests green · 382 render-mount checks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401568"/>
            <a:ext cx="1087495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Academics: curriculum, syllabus parsing, auto faculty-mapping, clash-safe auto-timetable, attendance.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Assessment: question bank, AI paper generation, secure online exams, AI + manual grading, transcripts.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College operations: fees, challans, payments, library, inventory, procurement, payroll, no-dues.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Learning: 4 certificate programmes, placement prep, coding lab, ATS resume builder.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THE CORE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One assessment loop, closed — with a human on every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47088"/>
            <a:ext cx="207989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47088"/>
            <a:ext cx="2079894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048256"/>
            <a:ext cx="171413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Inter"/>
              </a:rPr>
              <a:t>1 · Bank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8608"/>
            <a:ext cx="171413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Curated + imported + AI-generated questions, tagged by topic and difficulty.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1414" y="1847088"/>
            <a:ext cx="207989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811414" y="1847088"/>
            <a:ext cx="2079894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4294" y="2048256"/>
            <a:ext cx="171413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Inter"/>
              </a:rPr>
              <a:t>2 · Paper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94294" y="2578608"/>
            <a:ext cx="171413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Blueprint by unit, marks and difficulty. AI drafts; faculty approve.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55900" y="1847088"/>
            <a:ext cx="207989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55900" y="1847088"/>
            <a:ext cx="2079894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80" y="2048256"/>
            <a:ext cx="171413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Inter"/>
              </a:rPr>
              <a:t>3 · Exam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38780" y="2578608"/>
            <a:ext cx="171413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Online test with lockdown, section breaks, autosave and expiry recovery.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00386" y="1847088"/>
            <a:ext cx="207989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00386" y="1847088"/>
            <a:ext cx="2079894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83266" y="2048256"/>
            <a:ext cx="171413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Inter"/>
              </a:rPr>
              <a:t>4 · Grade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3266" y="2578608"/>
            <a:ext cx="171413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MCQ auto-grade; AI grading suggestions with confidence scores and rubrics.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44872" y="1847088"/>
            <a:ext cx="2079894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544872" y="1847088"/>
            <a:ext cx="2079894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7752" y="2048256"/>
            <a:ext cx="171413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F766E"/>
                </a:solidFill>
                <a:latin typeface="Inter"/>
              </a:rPr>
              <a:t>5 · Record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7752" y="2578608"/>
            <a:ext cx="1714134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Grade records → transcripts; university result files imported back in.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434840"/>
            <a:ext cx="1087495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7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No-AI fallback: a deterministic parser reads an uploaded DOCX/PDF paper with no API key at all.</a:t>
            </a:r>
          </a:p>
          <a:p>
            <a:pPr algn="l">
              <a:lnSpc>
                <a:spcPct val="114000"/>
              </a:lnSpc>
              <a:spcAft>
                <a:spcPts val="7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Multi-provider AI (Gemini / OpenAI / DeepSeek) behind one adapter, with tiers, daily caps, caching and per-college circuit breakers.</a:t>
            </a:r>
          </a:p>
          <a:p>
            <a:pPr algn="l">
              <a:lnSpc>
                <a:spcPct val="114000"/>
              </a:lnSpc>
              <a:spcAft>
                <a:spcPts val="7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Measured AI cost: ₹23 per student per year at base volume (₹46 budgeted with a 2× buffer).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INDIA-FIRST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Global software cannot be configured into an Indian college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47088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Six languages, including AI output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Kannada, Tamil, Telugu, Malayalam, Hindi, English — the interface AND generated questions, options and explanations in native Unicode script.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1847088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9895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9895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UUCMS integration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895" y="2670048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Karnataka's mandatory state portal: candidate ID, USN capture, import matching, status sync and eligibility checks — the workflow every college performs by hand today.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14800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352544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9884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Scheme packs as configuration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BCU SEP-2024 and KUD NEP-CBAE presets plus per-college custom packs: marks split, internal assessment, attendance slabs, pass rules and grade tables drive the whole system.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4114800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9895" y="4352544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9895" y="449884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Exam office, university-shaped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937760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Hall tickets with 75 % attendance blocking, room allotment, QR verification, result import for BCU-format files, marksheets and transcripts.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THE ELEARNING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The learning business is already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6006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Inter"/>
              </a:rPr>
              <a:t>Institutions pay for software; learners pay for outcomes. We already have both in one product.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certificate programmes: GenAI · Digital Marketing · Project Management · HR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1679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1679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423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32/135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modules / lessons authored to a validated, version-controlled format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6431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4175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984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quiz items + projects, capstones, rubrics and facilitator guides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183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1183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8927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8927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Indian languages the same engine delivers 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401568"/>
            <a:ext cx="1087495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Public shareable catalog for lead generation; students enrol inside the app they already open for attendance and results.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Also shipped: server-side coding lab, previous-year-paper corpus (English + Kannada), placement prep studio, ATS resume builder.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Certificate issuance, progress sync per college, offline caching and quiz generation all reuse the assessment engine.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WHY WE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Where every other product stops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828800"/>
          <a:ext cx="11612880" cy="3840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074920"/>
                <a:gridCol w="1645920"/>
                <a:gridCol w="1645920"/>
                <a:gridCol w="1645920"/>
                <a:gridCol w="160020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Inter"/>
                        </a:rPr>
                        <a:t>Capability</a:t>
                      </a:r>
                    </a:p>
                  </a:txBody>
                  <a:tcPr marL="82296" marR="82296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Inter"/>
                        </a:rPr>
                        <a:t>Legacy ERP</a:t>
                      </a:r>
                    </a:p>
                  </a:txBody>
                  <a:tcPr marL="82296" marR="82296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Inter"/>
                        </a:rPr>
                        <a:t>SIS + LMS</a:t>
                      </a:r>
                    </a:p>
                  </a:txBody>
                  <a:tcPr marL="82296" marR="82296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Inter"/>
                        </a:rPr>
                        <a:t>AI paper tool</a:t>
                      </a:r>
                    </a:p>
                  </a:txBody>
                  <a:tcPr marL="82296" marR="82296" marT="18288" marB="18288" anchor="ctr">
                    <a:solidFill>
                      <a:srgbClr val="1E293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Inter"/>
                        </a:rPr>
                        <a:t>Vriddhi</a:t>
                      </a:r>
                    </a:p>
                  </a:txBody>
                  <a:tcPr marL="82296" marR="82296" marT="18288" marB="18288" anchor="ctr">
                    <a:solidFill>
                      <a:srgbClr val="0B1220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AI question-paper generation with approval trail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F766E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Reads an uploaded paper with no AI key (deterministic)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F766E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Secure online exam: lockdown, autosave, auto-submit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F766E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AI grading with confidence + rubric breakdown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F766E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Grade records → transcripts + university result import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F766E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Six Indian languages incl. native-script AI output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F766E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State portal (UUCMS) + scheme packs as configuration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F766E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Certificate programmes &amp; placement prep included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Partial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F766E"/>
                          </a:solidFill>
                          <a:latin typeface="Inter"/>
                        </a:rPr>
                        <a:t>Yes</a:t>
                      </a:r>
                    </a:p>
                  </a:txBody>
                  <a:tcPr marL="82296" marR="82296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Price per student per year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₹300–1,200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₹300–1,200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475569"/>
                          </a:solidFill>
                          <a:latin typeface="Inter"/>
                        </a:rPr>
                        <a:t>₹500/20 papers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0F766E"/>
                          </a:solidFill>
                          <a:latin typeface="Inter"/>
                        </a:rPr>
                        <a:t>₹449 with content</a:t>
                      </a:r>
                    </a:p>
                  </a:txBody>
                  <a:tcPr marL="82296" marR="82296" marT="18288" marB="18288" anchor="ctr">
                    <a:solidFill>
                      <a:srgbClr val="F0FD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Four revenue layers on one platform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47088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L1 · Campus licence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₹449 per student per year + ₹2.5 L onboarding. All modules, unlimited users, AI included. A 5,000-student college = ₹22.45 L per year.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1847088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9895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9895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L2 · Add-on packs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895" y="2670048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₹40–120 per student per year each: Placement Pack (built), Coding Lab, Prep Studio, alerts, library automation, OBE/NAAC reporting.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14800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352544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9884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L3 · Learning programmes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₹999–2,999 per learner for certificate programmes, or ₹150–400 per student bundled through the college. Content cost is fixed; delivery is near-zero marginal cost.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23863" y="4114800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79895" y="4352544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9895" y="449884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L4 · Platform &amp; services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9895" y="4937760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University dashboards, white-label delivery for content partners, corporate L&amp;D and proctored hiring assessments: ₹5–25 L per year contracts.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UNIT ECONOMICS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A 5,000-student college costs ₹18,123 a year to run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6006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Inter"/>
              </a:rPr>
              <a:t>Fully serverless, Mumbai region, no idle servers. Cost model reproducible from the repository.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₹22.45 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revenue per 5,000-student college at ₹449/student/year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1679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1679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423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₹18,123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cloud infrastructure per year (₹27 K budgeted with buffer)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6431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4175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₹1.16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AI per year at base volume — ₹23 per student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183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1183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8927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31–45 %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8927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gross margin with a shared team, and rising with every college added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401568"/>
            <a:ext cx="1087495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Margin is structural: colleges share one deployment and one fixed team cost; infrastructure is 0.08 % of revenue.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Exam-day peaks are not a cost event: 1,000 simultaneous test starts ≈ ₹15 of usage, auto-scaled.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Pricing floor measured, not guessed: ₹399 with a 3-year commitment, never below ₹349.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TRACTION — STATED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What is proven today, and what this round proves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47088"/>
            <a:ext cx="53917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47088"/>
            <a:ext cx="50292" cy="4206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66543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766E"/>
                </a:solidFill>
                <a:latin typeface="Inter"/>
              </a:rPr>
              <a:t>Proven and verifiable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487168"/>
            <a:ext cx="484311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Product complete end to end: ~1,540 tests green, tsc clean, 382 render checks, audited security rules.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Content authored: 4 certificate programmes, ~2,000 curated MCQs, scheme packs, PYQ corpus, Kannada collateral.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Cost model measured: ₹18 K/year infrastructure, ₹23/student/year AI, 31–45 % gross margin.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Audits written and dated: health, costing, competitive analysis, demo playbook — the boring evidence of a profession.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&lt;colleges in pilot conversation&gt; colleges in active conversation; &lt;n&gt; letters of intent signed.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Raising ₹50 L to convert that interest into 5 paid pilots within 90 days.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847088"/>
            <a:ext cx="5391759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7327" y="2066543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EEAD4"/>
                </a:solidFill>
                <a:latin typeface="Inter"/>
              </a:rPr>
              <a:t>Not yet — and this is the 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87168"/>
            <a:ext cx="484311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5EEAD4"/>
                </a:solidFill>
                <a:latin typeface="Inter"/>
              </a:rPr>
              <a:t>Paying colleges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0 today → 5 paid pilots in 90 days → 25 colleges by month 18.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5EEAD4"/>
                </a:solidFill>
                <a:latin typeface="Inter"/>
              </a:rPr>
              <a:t>Learning revenue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0 today → marketplace + certificates in 90 days → 1,000 paid learners.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5EEAD4"/>
                </a:solidFill>
                <a:latin typeface="Inter"/>
              </a:rPr>
              <a:t>Procurement gaps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Live payment keys, WhatsApp/SMS alerts, parent portal, OBE/NAAC pack — Horizon 1.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5EEAD4"/>
                </a:solidFill>
                <a:latin typeface="Inter"/>
              </a:rPr>
              <a:t>Team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&lt;n&gt; full-time today → +2 engineering, +2 sales/implementation, +1 content with this round.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Where the money goes, and what it buys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47088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Horizon 1 · months 0–6 · funded by this round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Fee collection live · WhatsApp/SMS alerts · parent portal · marksheets &amp; transcripts · OBE/NAAC pack. Unlocks: every procurement checklist.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1847088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9895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9895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Horizon 2 · months 6–12 · started on this 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895" y="2670048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Course marketplace · first Kannada programmes · corporate L&amp;D · proctored assessment · placement pack v2. Unlocks: non-licence revenue at 85 %+ margin.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114800"/>
            <a:ext cx="5400903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352544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49884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Horizon 3 · year 2–3 · seed round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937760"/>
            <a:ext cx="488883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University deployments · second-state portal depth · verifiable credentials · proctoring · Gulf/SAARC. Unlocks: one signature, 30–100 colleges.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THE ELEARNING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A second business, sitting inside the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847088"/>
            <a:ext cx="67208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Inter"/>
              </a:rPr>
              <a:t>Why the learning layer compounds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240280"/>
            <a:ext cx="672084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India online education: $4.48 B in 2026 → $23.9 B by 2034 (23 % CAGR); higher education is the fastest-growing segment.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India executive education and upskilling: $12.2 B with 22.7 M paid learners — and a 56.35 % employability rate demanding proof of skills.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NEP 2020 lets colleges grant credit for external, outcome-mapped learning — a legislated reason to buy.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50" b="0" i="0">
                <a:solidFill>
                  <a:srgbClr val="475569"/>
                </a:solidFill>
                <a:latin typeface="Inter"/>
              </a:rPr>
              <a:t>Every edtech brand pays ₹1,500–4,000 to acquire a learner. Ours are already logged in, at zero media spend.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07808" y="1847088"/>
            <a:ext cx="40169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82128" y="2084831"/>
            <a:ext cx="34683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F766E"/>
                </a:solidFill>
                <a:latin typeface="Inter"/>
              </a:rPr>
              <a:t>Three ways to monetise the same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82128" y="2487168"/>
            <a:ext cx="346831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0F172A"/>
                </a:solidFill>
                <a:latin typeface="Inter"/>
              </a:rPr>
              <a:t>Campus bundles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00" b="0" i="0">
                <a:solidFill>
                  <a:srgbClr val="475569"/>
                </a:solidFill>
                <a:latin typeface="Inter"/>
              </a:rPr>
              <a:t>₹150–400 per student per programme — sold to a buyer already paying us.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0F172A"/>
                </a:solidFill>
                <a:latin typeface="Inter"/>
              </a:rPr>
              <a:t>Direct certification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00" b="0" i="0">
                <a:solidFill>
                  <a:srgbClr val="475569"/>
                </a:solidFill>
                <a:latin typeface="Inter"/>
              </a:rPr>
              <a:t>₹999–2,999 per learner, CAC target ₹400–900, 50,000 students reachable in 25 colleges.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0F172A"/>
                </a:solidFill>
                <a:latin typeface="Inter"/>
              </a:rPr>
              <a:t>Corporate &amp; government</a:t>
            </a:r>
          </a:p>
          <a:p>
            <a:pPr algn="l">
              <a:lnSpc>
                <a:spcPct val="120000"/>
              </a:lnSpc>
              <a:spcAft>
                <a:spcPts val="1100"/>
              </a:spcAft>
            </a:pPr>
            <a:r>
              <a:rPr sz="1100" b="0" i="0">
                <a:solidFill>
                  <a:srgbClr val="475569"/>
                </a:solidFill>
                <a:latin typeface="Inter"/>
              </a:rPr>
              <a:t>₹1,500–6,000 per seat, or ₹5–25 L platform contracts, for proctored certification.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THE MOAT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Why this gets harder to displace every semester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47088"/>
            <a:ext cx="3515258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31136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Data gravity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3003194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75569"/>
                </a:solidFill>
                <a:latin typeface="Inter"/>
              </a:rPr>
              <a:t>Questions, attendance, grade records and transcripts accumulate inside the platform. Switching means losing the audit trail accreditors ask 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38218" y="1847088"/>
            <a:ext cx="3515258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94250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94250" y="2231136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Content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94250" y="2670048"/>
            <a:ext cx="3003194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75569"/>
                </a:solidFill>
                <a:latin typeface="Inter"/>
              </a:rPr>
              <a:t>4 programmes, ~2,000 curated MCQs, scheme packs and a PYQ corpus — 6–12 months of authored work that competitors must buy or build.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09508" y="1847088"/>
            <a:ext cx="3515258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365540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5540" y="2231136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University configuration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5540" y="2670048"/>
            <a:ext cx="3003194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75569"/>
                </a:solidFill>
                <a:latin typeface="Inter"/>
              </a:rPr>
              <a:t>Every scheme pack and portal integration turns the next college under that university into a 5-day onboarding, not a 5-week project.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977639"/>
            <a:ext cx="3515258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4215383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361688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AI cost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800600"/>
            <a:ext cx="3003194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75569"/>
                </a:solidFill>
                <a:latin typeface="Inter"/>
              </a:rPr>
              <a:t>Caching, tiers, caps and a deterministic fallback keep AI at ₹23/student/year — a price war we win against anyone who bolted AI 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38218" y="3977639"/>
            <a:ext cx="3515258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94250" y="4215383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94250" y="4361688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Serverless economics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94250" y="4800600"/>
            <a:ext cx="3003194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75569"/>
                </a:solidFill>
                <a:latin typeface="Inter"/>
              </a:rPr>
              <a:t>₹18 K/year at 5,000 students, no on-premise, no idle servers — margin improves with every college.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09508" y="3977639"/>
            <a:ext cx="3515258" cy="18745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365540" y="4215383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5540" y="4361688"/>
            <a:ext cx="300319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Vernacular capability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5540" y="4800600"/>
            <a:ext cx="3003194" cy="9143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475569"/>
                </a:solidFill>
                <a:latin typeface="Inter"/>
              </a:rPr>
              <a:t>Six languages, authored in-script. Shipped as Kannada decks, booklets and question papers, not as a locale dropdown.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Who is building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47088"/>
            <a:ext cx="53917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847088"/>
            <a:ext cx="50292" cy="42062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066543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F766E"/>
                </a:solidFill>
                <a:latin typeface="Inter"/>
              </a:rPr>
              <a:t>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7" y="2487168"/>
            <a:ext cx="484311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&lt;Founder name&gt; — &lt;one line: what you did before, why you understand this problem&gt;.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&lt;Co-founder / lead engineer&gt; — &lt;one line&gt;.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&lt;Advisors: a principal, a university academic, a CA — anyone with standing&gt;.</a:t>
            </a:r>
          </a:p>
          <a:p>
            <a:pPr algn="l">
              <a:lnSpc>
                <a:spcPct val="114000"/>
              </a:lnSpc>
              <a:spcAft>
                <a:spcPts val="9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Backed by an AI-assisted engineering process that produced 257 K lines with ~1,540 tests in &lt;n&gt; months.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3007" y="1847088"/>
            <a:ext cx="5391759" cy="42062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07327" y="2066543"/>
            <a:ext cx="4843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5EEAD4"/>
                </a:solidFill>
                <a:latin typeface="Inter"/>
              </a:rPr>
              <a:t>Joining with this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87168"/>
            <a:ext cx="484311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5EEAD4"/>
                </a:solidFill>
                <a:latin typeface="Inter"/>
              </a:rPr>
              <a:t>Engineering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2 full-stack engineers — Horizons 1 and 2 features.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5EEAD4"/>
                </a:solidFill>
                <a:latin typeface="Inter"/>
              </a:rPr>
              <a:t>Sales &amp; implementation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2 people to run the pilot machine and onboard colleges (target: 5 colleges per quarter).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5EEAD4"/>
                </a:solidFill>
                <a:latin typeface="Inter"/>
              </a:rPr>
              <a:t>Content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1 instructional designer + subject experts on contract for 10 more programmes.</a:t>
            </a:r>
          </a:p>
          <a:p>
            <a:pPr algn="l">
              <a:lnSpc>
                <a:spcPct val="115000"/>
              </a:lnSpc>
              <a:spcAft>
                <a:spcPts val="100"/>
              </a:spcAft>
            </a:pPr>
            <a:r>
              <a:rPr sz="1150" b="1" i="0">
                <a:solidFill>
                  <a:srgbClr val="5EEAD4"/>
                </a:solidFill>
                <a:latin typeface="Inter"/>
              </a:rPr>
              <a:t>Advisory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100" b="0" i="0">
                <a:solidFill>
                  <a:srgbClr val="CBD5E1"/>
                </a:solidFill>
                <a:latin typeface="Inter"/>
              </a:rPr>
              <a:t>A senior enterprise-SaaS mentor and a university-relations advisor.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₹50 L for 8–10 % — and three specific introductions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847088"/>
            <a:ext cx="5400903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Pilot colleges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70048"/>
            <a:ext cx="4888839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Warm introductions to principals and chairmen in Karnataka, then Maharashtra and Tamil Nadu. Three introductions are worth more than ₹10 L of marketing.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3863" y="1847088"/>
            <a:ext cx="5400903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79895" y="2084832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9895" y="2231136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University relationships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79895" y="2670048"/>
            <a:ext cx="4888839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A conversation with a university's academic or examination wing to co-seed question banks and scheme packs — one win onboards 30–100 affiliated colleges.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886200"/>
            <a:ext cx="5400903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4123944"/>
            <a:ext cx="310896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270248"/>
            <a:ext cx="4888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0F172A"/>
                </a:solidFill>
                <a:latin typeface="Inter"/>
              </a:rPr>
              <a:t>Operating help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709160"/>
            <a:ext cx="4888839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475569"/>
                </a:solidFill>
                <a:latin typeface="Inter"/>
              </a:rPr>
              <a:t>A part-time enterprise-sales lead and a content partner for the certificate catalogue. Hiring is our real constraint, not capital.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925312"/>
            <a:ext cx="1087495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Use of funds: 36 % engineering · 18 % implementation &amp; pilots · 16 % content · 10 % sales · 8 % contingency · 6 % cloud/AI · 6 % legal.</a:t>
            </a:r>
          </a:p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9-month milestones: 5 paid pilots by month 3 · 10 colleges live and ₹25–35 L ARR by month 9 · 8 certificate programmes · then the seed round.</a:t>
            </a:r>
          </a:p>
          <a:p>
            <a:pPr algn="l">
              <a:lnSpc>
                <a:spcPct val="114000"/>
              </a:lnSpc>
              <a:spcAft>
                <a:spcPts val="6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100" b="0" i="0">
                <a:solidFill>
                  <a:srgbClr val="475569"/>
                </a:solidFill>
                <a:latin typeface="Inter"/>
              </a:rPr>
              <a:t>Governance we welcome: monthly metrics, a quarterly board review, and a named risk register reviewed every quarter.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02336"/>
            <a:ext cx="457200" cy="5029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0F766E"/>
                </a:solidFill>
                <a:latin typeface="Inter"/>
              </a:rPr>
              <a:t>WHY NOW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49808"/>
            <a:ext cx="110578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0F172A"/>
                </a:solidFill>
                <a:latin typeface="Inter"/>
              </a:rPr>
              <a:t>Four windows are open at the same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389888"/>
            <a:ext cx="106006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64748B"/>
                </a:solidFill>
                <a:latin typeface="Inter"/>
              </a:rPr>
              <a:t>This combination will not be open in 2028.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NEP + NAAC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Outcome evidence is now a funding condition, not a nicety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1679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81679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9423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UUCMS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9423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Every Karnataka student is already inside a state portal — and no ERP connects to 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6431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6431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4175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AI economics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34175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Frontier-quality generation in Indic scripts at ₹23 per student per year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11183" y="1847088"/>
            <a:ext cx="2613583" cy="129844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11183" y="1847088"/>
            <a:ext cx="50292" cy="129844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48927" y="1993392"/>
            <a:ext cx="215638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 i="0">
                <a:solidFill>
                  <a:srgbClr val="0F766E"/>
                </a:solidFill>
                <a:latin typeface="Inter"/>
              </a:rPr>
              <a:t>ERP churn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48927" y="2487168"/>
            <a:ext cx="2156383" cy="548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475569"/>
                </a:solidFill>
                <a:latin typeface="Inter"/>
              </a:rPr>
              <a:t>Colleges are replacing 10-year-old ERPs, not buying their first 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3401568"/>
            <a:ext cx="10874959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The question is not whether Indian colleges will run on AI-native software — it is which vendor is already inside them when they decide.</a:t>
            </a:r>
          </a:p>
          <a:p>
            <a:pPr algn="l">
              <a:lnSpc>
                <a:spcPct val="114000"/>
              </a:lnSpc>
              <a:spcAft>
                <a:spcPts val="800"/>
              </a:spcAft>
            </a:pPr>
            <a:r>
              <a:rPr sz="900" b="0" i="0">
                <a:solidFill>
                  <a:srgbClr val="14B8A6"/>
                </a:solidFill>
                <a:latin typeface="Inter"/>
              </a:rPr>
              <a:t>●  </a:t>
            </a:r>
            <a:r>
              <a:rPr sz="1200" b="0" i="0">
                <a:solidFill>
                  <a:srgbClr val="475569"/>
                </a:solidFill>
                <a:latin typeface="Inter"/>
              </a:rPr>
              <a:t>Our answer is distribution-first: land through the exam paper, expand to the campus, then sell the learning.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775704"/>
            <a:ext cx="12191695" cy="8229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7432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vriddhi-logo-horizontal-reverse@16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640080"/>
            <a:ext cx="2377440" cy="78604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0"/>
            <a:ext cx="69494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200" b="1" i="0">
                <a:solidFill>
                  <a:srgbClr val="FFFFFF"/>
                </a:solidFill>
                <a:latin typeface="Inter"/>
              </a:rPr>
              <a:t>Let's grow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3246120"/>
            <a:ext cx="566928" cy="54864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3566160"/>
            <a:ext cx="69494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1200"/>
              </a:spcAft>
            </a:pPr>
            <a:r>
              <a:rPr sz="1500" b="1" i="0">
                <a:solidFill>
                  <a:srgbClr val="5EEAD4"/>
                </a:solidFill>
                <a:latin typeface="Inter"/>
              </a:rPr>
              <a:t>Vriddhi (वृद्धि) — growth through knowledge.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 b="0" i="0">
                <a:solidFill>
                  <a:srgbClr val="CBD5E1"/>
                </a:solidFill>
                <a:latin typeface="Inter"/>
              </a:rPr>
              <a:t>Pilot onboarding for the first cohort of colleges starts in 30 days.</a:t>
            </a:r>
          </a:p>
          <a:p>
            <a:pPr algn="l">
              <a:lnSpc>
                <a:spcPct val="130000"/>
              </a:lnSpc>
            </a:pPr>
            <a:r>
              <a:rPr sz="1250" b="0" i="0">
                <a:solidFill>
                  <a:srgbClr val="94A3B8"/>
                </a:solidFill>
                <a:latin typeface="Inter"/>
              </a:rPr>
              <a:t>&lt;your name&gt; · &lt;email&gt; · &lt;phone&gt; · www.vriddhi.in</a:t>
            </a:r>
          </a:p>
        </p:txBody>
      </p:sp>
      <p:pic>
        <p:nvPicPr>
          <p:cNvPr id="8" name="Picture 7" descr="vriddhi-mark-hero-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8160" y="2194560"/>
            <a:ext cx="3291840" cy="2537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